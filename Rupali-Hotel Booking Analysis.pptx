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5"/>
  </p:notesMasterIdLst>
  <p:sldIdLst>
    <p:sldId id="256" r:id="rId2"/>
    <p:sldId id="258" r:id="rId3"/>
    <p:sldId id="261" r:id="rId4"/>
    <p:sldId id="324" r:id="rId5"/>
    <p:sldId id="315" r:id="rId6"/>
    <p:sldId id="318" r:id="rId7"/>
    <p:sldId id="320" r:id="rId8"/>
    <p:sldId id="321" r:id="rId9"/>
    <p:sldId id="325" r:id="rId10"/>
    <p:sldId id="342" r:id="rId11"/>
    <p:sldId id="328" r:id="rId12"/>
    <p:sldId id="329" r:id="rId13"/>
    <p:sldId id="331" r:id="rId14"/>
    <p:sldId id="332" r:id="rId15"/>
    <p:sldId id="333" r:id="rId16"/>
    <p:sldId id="334" r:id="rId17"/>
    <p:sldId id="335" r:id="rId18"/>
    <p:sldId id="336" r:id="rId19"/>
    <p:sldId id="337" r:id="rId20"/>
    <p:sldId id="260" r:id="rId21"/>
    <p:sldId id="338" r:id="rId22"/>
    <p:sldId id="340" r:id="rId23"/>
    <p:sldId id="341" r:id="rId24"/>
  </p:sldIdLst>
  <p:sldSz cx="9144000" cy="5143500" type="screen16x9"/>
  <p:notesSz cx="6858000" cy="9144000"/>
  <p:embeddedFontLst>
    <p:embeddedFont>
      <p:font typeface="Cooper Black" panose="0208090404030B020404" pitchFamily="18" charset="0"/>
      <p:regular r:id="rId26"/>
    </p:embeddedFont>
    <p:embeddedFont>
      <p:font typeface="Crimson Pro" panose="020B0604020202020204" charset="0"/>
      <p:regular r:id="rId27"/>
      <p:bold r:id="rId28"/>
      <p:italic r:id="rId29"/>
      <p:boldItalic r:id="rId30"/>
    </p:embeddedFont>
    <p:embeddedFont>
      <p:font typeface="Federo" panose="020B0604020202020204" charset="0"/>
      <p:regular r:id="rId31"/>
    </p:embeddedFont>
    <p:embeddedFont>
      <p:font typeface="Patrick Hand" panose="00000500000000000000" pitchFamily="2"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303"/>
    <a:srgbClr val="BF417A"/>
    <a:srgbClr val="5B3F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0304EF-422E-4923-AA5E-0ECB5A10407F}">
  <a:tblStyle styleId="{3E0304EF-422E-4923-AA5E-0ECB5A10407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107" d="100"/>
          <a:sy n="107"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6" name="Google Shape;1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f05802b1a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06" name="Google Shape;206;gf05802b1a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a1242414e1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44" name="Google Shape;244;ga1242414e1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a1242414e1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44" name="Google Shape;244;ga1242414e1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6912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a1242414e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47" name="Google Shape;347;ga1242414e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305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5577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0522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781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030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6065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7448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7034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773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3167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5027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3090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8031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8482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8b385fd27f_2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6" name="Google Shape;236;g8b385fd27f_2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8b385fd27f_2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6" name="Google Shape;236;g8b385fd27f_2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507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054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3de234ac0a_0_27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05" name="Google Shape;905;g13de234ac0a_0_27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2068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
        <p:nvSpPr>
          <p:cNvPr id="10" name="Google Shape;10;p2"/>
          <p:cNvSpPr txBox="1">
            <a:spLocks noGrp="1"/>
          </p:cNvSpPr>
          <p:nvPr>
            <p:ph type="ctrTitle"/>
          </p:nvPr>
        </p:nvSpPr>
        <p:spPr>
          <a:xfrm>
            <a:off x="953100" y="1183750"/>
            <a:ext cx="7237800" cy="17736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4800"/>
              <a:buNone/>
              <a:defRPr sz="6500" b="0">
                <a:latin typeface="Federo"/>
                <a:ea typeface="Federo"/>
                <a:cs typeface="Federo"/>
                <a:sym typeface="Fede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203000" y="4193825"/>
            <a:ext cx="4737900" cy="48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atin typeface="Crimson Pro"/>
                <a:ea typeface="Crimson Pro"/>
                <a:cs typeface="Crimson Pro"/>
                <a:sym typeface="Crimson Pro"/>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
        <p:nvSpPr>
          <p:cNvPr id="19" name="Google Shape;19;p4"/>
          <p:cNvSpPr txBox="1">
            <a:spLocks noGrp="1"/>
          </p:cNvSpPr>
          <p:nvPr>
            <p:ph type="ctrTitle"/>
          </p:nvPr>
        </p:nvSpPr>
        <p:spPr>
          <a:xfrm>
            <a:off x="2580375" y="307074"/>
            <a:ext cx="3983400" cy="12282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4800"/>
              <a:buNone/>
              <a:defRPr sz="6500" b="0">
                <a:latin typeface="Federo"/>
                <a:ea typeface="Federo"/>
                <a:cs typeface="Federo"/>
                <a:sym typeface="Fede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0" name="Google Shape;20;p4"/>
          <p:cNvSpPr txBox="1">
            <a:spLocks noGrp="1"/>
          </p:cNvSpPr>
          <p:nvPr>
            <p:ph type="body" idx="1"/>
          </p:nvPr>
        </p:nvSpPr>
        <p:spPr>
          <a:xfrm>
            <a:off x="713100" y="1821100"/>
            <a:ext cx="5775300" cy="26046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Clr>
                <a:srgbClr val="434343"/>
              </a:buClr>
              <a:buSzPts val="1400"/>
              <a:buFont typeface="Anaheim"/>
              <a:buChar char="●"/>
              <a:defRPr sz="1200"/>
            </a:lvl1pPr>
            <a:lvl2pPr marL="914400" lvl="1" indent="-317500" rtl="0">
              <a:lnSpc>
                <a:spcPct val="100000"/>
              </a:lnSpc>
              <a:spcBef>
                <a:spcPts val="1000"/>
              </a:spcBef>
              <a:spcAft>
                <a:spcPts val="0"/>
              </a:spcAft>
              <a:buClr>
                <a:srgbClr val="434343"/>
              </a:buClr>
              <a:buSzPts val="1400"/>
              <a:buFont typeface="Anaheim"/>
              <a:buChar char="○"/>
              <a:defRPr/>
            </a:lvl2pPr>
            <a:lvl3pPr marL="1371600" lvl="2" indent="-317500" rtl="0">
              <a:lnSpc>
                <a:spcPct val="100000"/>
              </a:lnSpc>
              <a:spcBef>
                <a:spcPts val="0"/>
              </a:spcBef>
              <a:spcAft>
                <a:spcPts val="0"/>
              </a:spcAft>
              <a:buClr>
                <a:srgbClr val="434343"/>
              </a:buClr>
              <a:buSzPts val="1400"/>
              <a:buFont typeface="Anaheim"/>
              <a:buChar char="■"/>
              <a:defRPr/>
            </a:lvl3pPr>
            <a:lvl4pPr marL="1828800" lvl="3" indent="-317500" rtl="0">
              <a:lnSpc>
                <a:spcPct val="100000"/>
              </a:lnSpc>
              <a:spcBef>
                <a:spcPts val="0"/>
              </a:spcBef>
              <a:spcAft>
                <a:spcPts val="0"/>
              </a:spcAft>
              <a:buClr>
                <a:srgbClr val="434343"/>
              </a:buClr>
              <a:buSzPts val="1400"/>
              <a:buFont typeface="Anaheim"/>
              <a:buChar char="●"/>
              <a:defRPr/>
            </a:lvl4pPr>
            <a:lvl5pPr marL="2286000" lvl="4" indent="-317500" rtl="0">
              <a:lnSpc>
                <a:spcPct val="100000"/>
              </a:lnSpc>
              <a:spcBef>
                <a:spcPts val="0"/>
              </a:spcBef>
              <a:spcAft>
                <a:spcPts val="0"/>
              </a:spcAft>
              <a:buClr>
                <a:srgbClr val="434343"/>
              </a:buClr>
              <a:buSzPts val="1400"/>
              <a:buFont typeface="Anaheim"/>
              <a:buChar char="○"/>
              <a:defRPr/>
            </a:lvl5pPr>
            <a:lvl6pPr marL="2743200" lvl="5" indent="-317500" rtl="0">
              <a:lnSpc>
                <a:spcPct val="100000"/>
              </a:lnSpc>
              <a:spcBef>
                <a:spcPts val="0"/>
              </a:spcBef>
              <a:spcAft>
                <a:spcPts val="0"/>
              </a:spcAft>
              <a:buClr>
                <a:srgbClr val="434343"/>
              </a:buClr>
              <a:buSzPts val="1400"/>
              <a:buFont typeface="Anaheim"/>
              <a:buChar char="■"/>
              <a:defRPr/>
            </a:lvl6pPr>
            <a:lvl7pPr marL="3200400" lvl="6" indent="-317500" rtl="0">
              <a:lnSpc>
                <a:spcPct val="100000"/>
              </a:lnSpc>
              <a:spcBef>
                <a:spcPts val="0"/>
              </a:spcBef>
              <a:spcAft>
                <a:spcPts val="0"/>
              </a:spcAft>
              <a:buClr>
                <a:srgbClr val="434343"/>
              </a:buClr>
              <a:buSzPts val="1400"/>
              <a:buFont typeface="Anaheim"/>
              <a:buChar char="●"/>
              <a:defRPr/>
            </a:lvl7pPr>
            <a:lvl8pPr marL="3657600" lvl="7" indent="-317500" rtl="0">
              <a:lnSpc>
                <a:spcPct val="100000"/>
              </a:lnSpc>
              <a:spcBef>
                <a:spcPts val="0"/>
              </a:spcBef>
              <a:spcAft>
                <a:spcPts val="0"/>
              </a:spcAft>
              <a:buClr>
                <a:srgbClr val="434343"/>
              </a:buClr>
              <a:buSzPts val="1400"/>
              <a:buFont typeface="Anaheim"/>
              <a:buChar char="○"/>
              <a:defRPr/>
            </a:lvl8pPr>
            <a:lvl9pPr marL="4114800" lvl="8" indent="-317500" rtl="0">
              <a:lnSpc>
                <a:spcPct val="100000"/>
              </a:lnSpc>
              <a:spcBef>
                <a:spcPts val="0"/>
              </a:spcBef>
              <a:spcAft>
                <a:spcPts val="0"/>
              </a:spcAft>
              <a:buClr>
                <a:srgbClr val="434343"/>
              </a:buClr>
              <a:buSzPts val="1400"/>
              <a:buFont typeface="Anaheim"/>
              <a:buChar char="■"/>
              <a:defRPr/>
            </a:lvl9pPr>
          </a:lstStyle>
          <a:p>
            <a:endParaRP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pic>
        <p:nvPicPr>
          <p:cNvPr id="22" name="Google Shape;22;p5"/>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
        <p:nvSpPr>
          <p:cNvPr id="23" name="Google Shape;23;p5"/>
          <p:cNvSpPr txBox="1">
            <a:spLocks noGrp="1"/>
          </p:cNvSpPr>
          <p:nvPr>
            <p:ph type="ctrTitle"/>
          </p:nvPr>
        </p:nvSpPr>
        <p:spPr>
          <a:xfrm>
            <a:off x="4572000" y="307075"/>
            <a:ext cx="3858900" cy="12282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4800"/>
              <a:buNone/>
              <a:defRPr sz="6500" b="0">
                <a:latin typeface="Federo"/>
                <a:ea typeface="Federo"/>
                <a:cs typeface="Federo"/>
                <a:sym typeface="Fede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4" name="Google Shape;24;p5"/>
          <p:cNvSpPr txBox="1">
            <a:spLocks noGrp="1"/>
          </p:cNvSpPr>
          <p:nvPr>
            <p:ph type="subTitle" idx="1"/>
          </p:nvPr>
        </p:nvSpPr>
        <p:spPr>
          <a:xfrm>
            <a:off x="5488661" y="3652775"/>
            <a:ext cx="2762100" cy="63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5" name="Google Shape;25;p5"/>
          <p:cNvSpPr txBox="1">
            <a:spLocks noGrp="1"/>
          </p:cNvSpPr>
          <p:nvPr>
            <p:ph type="title" idx="2"/>
          </p:nvPr>
        </p:nvSpPr>
        <p:spPr>
          <a:xfrm>
            <a:off x="5488661" y="3279875"/>
            <a:ext cx="2762100" cy="507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1800"/>
              <a:buNone/>
              <a:defRPr sz="2400"/>
            </a:lvl1pPr>
            <a:lvl2pPr lvl="1" algn="ctr" rtl="0">
              <a:spcBef>
                <a:spcPts val="0"/>
              </a:spcBef>
              <a:spcAft>
                <a:spcPts val="0"/>
              </a:spcAft>
              <a:buSzPts val="2800"/>
              <a:buFont typeface="Patrick Hand"/>
              <a:buNone/>
              <a:defRPr>
                <a:latin typeface="Patrick Hand"/>
                <a:ea typeface="Patrick Hand"/>
                <a:cs typeface="Patrick Hand"/>
                <a:sym typeface="Patrick Hand"/>
              </a:defRPr>
            </a:lvl2pPr>
            <a:lvl3pPr lvl="2" algn="ctr" rtl="0">
              <a:spcBef>
                <a:spcPts val="0"/>
              </a:spcBef>
              <a:spcAft>
                <a:spcPts val="0"/>
              </a:spcAft>
              <a:buSzPts val="2800"/>
              <a:buFont typeface="Patrick Hand"/>
              <a:buNone/>
              <a:defRPr>
                <a:latin typeface="Patrick Hand"/>
                <a:ea typeface="Patrick Hand"/>
                <a:cs typeface="Patrick Hand"/>
                <a:sym typeface="Patrick Hand"/>
              </a:defRPr>
            </a:lvl3pPr>
            <a:lvl4pPr lvl="3" algn="ctr" rtl="0">
              <a:spcBef>
                <a:spcPts val="0"/>
              </a:spcBef>
              <a:spcAft>
                <a:spcPts val="0"/>
              </a:spcAft>
              <a:buSzPts val="2800"/>
              <a:buFont typeface="Patrick Hand"/>
              <a:buNone/>
              <a:defRPr>
                <a:latin typeface="Patrick Hand"/>
                <a:ea typeface="Patrick Hand"/>
                <a:cs typeface="Patrick Hand"/>
                <a:sym typeface="Patrick Hand"/>
              </a:defRPr>
            </a:lvl4pPr>
            <a:lvl5pPr lvl="4" algn="ctr" rtl="0">
              <a:spcBef>
                <a:spcPts val="0"/>
              </a:spcBef>
              <a:spcAft>
                <a:spcPts val="0"/>
              </a:spcAft>
              <a:buSzPts val="2800"/>
              <a:buFont typeface="Patrick Hand"/>
              <a:buNone/>
              <a:defRPr>
                <a:latin typeface="Patrick Hand"/>
                <a:ea typeface="Patrick Hand"/>
                <a:cs typeface="Patrick Hand"/>
                <a:sym typeface="Patrick Hand"/>
              </a:defRPr>
            </a:lvl5pPr>
            <a:lvl6pPr lvl="5" algn="ctr" rtl="0">
              <a:spcBef>
                <a:spcPts val="0"/>
              </a:spcBef>
              <a:spcAft>
                <a:spcPts val="0"/>
              </a:spcAft>
              <a:buSzPts val="2800"/>
              <a:buFont typeface="Patrick Hand"/>
              <a:buNone/>
              <a:defRPr>
                <a:latin typeface="Patrick Hand"/>
                <a:ea typeface="Patrick Hand"/>
                <a:cs typeface="Patrick Hand"/>
                <a:sym typeface="Patrick Hand"/>
              </a:defRPr>
            </a:lvl6pPr>
            <a:lvl7pPr lvl="6" algn="ctr" rtl="0">
              <a:spcBef>
                <a:spcPts val="0"/>
              </a:spcBef>
              <a:spcAft>
                <a:spcPts val="0"/>
              </a:spcAft>
              <a:buSzPts val="2800"/>
              <a:buFont typeface="Patrick Hand"/>
              <a:buNone/>
              <a:defRPr>
                <a:latin typeface="Patrick Hand"/>
                <a:ea typeface="Patrick Hand"/>
                <a:cs typeface="Patrick Hand"/>
                <a:sym typeface="Patrick Hand"/>
              </a:defRPr>
            </a:lvl7pPr>
            <a:lvl8pPr lvl="7" algn="ctr" rtl="0">
              <a:spcBef>
                <a:spcPts val="0"/>
              </a:spcBef>
              <a:spcAft>
                <a:spcPts val="0"/>
              </a:spcAft>
              <a:buSzPts val="2800"/>
              <a:buFont typeface="Patrick Hand"/>
              <a:buNone/>
              <a:defRPr>
                <a:latin typeface="Patrick Hand"/>
                <a:ea typeface="Patrick Hand"/>
                <a:cs typeface="Patrick Hand"/>
                <a:sym typeface="Patrick Hand"/>
              </a:defRPr>
            </a:lvl8pPr>
            <a:lvl9pPr lvl="8" algn="ctr"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26" name="Google Shape;26;p5"/>
          <p:cNvSpPr txBox="1">
            <a:spLocks noGrp="1"/>
          </p:cNvSpPr>
          <p:nvPr>
            <p:ph type="subTitle" idx="3"/>
          </p:nvPr>
        </p:nvSpPr>
        <p:spPr>
          <a:xfrm>
            <a:off x="5488613" y="2480400"/>
            <a:ext cx="2762100" cy="54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7" name="Google Shape;27;p5"/>
          <p:cNvSpPr txBox="1">
            <a:spLocks noGrp="1"/>
          </p:cNvSpPr>
          <p:nvPr>
            <p:ph type="title" idx="4"/>
          </p:nvPr>
        </p:nvSpPr>
        <p:spPr>
          <a:xfrm>
            <a:off x="5488613" y="2107500"/>
            <a:ext cx="2762100" cy="507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1800"/>
              <a:buNone/>
              <a:defRPr sz="2400"/>
            </a:lvl1pPr>
            <a:lvl2pPr lvl="1" algn="ctr" rtl="0">
              <a:spcBef>
                <a:spcPts val="0"/>
              </a:spcBef>
              <a:spcAft>
                <a:spcPts val="0"/>
              </a:spcAft>
              <a:buSzPts val="2800"/>
              <a:buFont typeface="Patrick Hand"/>
              <a:buNone/>
              <a:defRPr>
                <a:latin typeface="Patrick Hand"/>
                <a:ea typeface="Patrick Hand"/>
                <a:cs typeface="Patrick Hand"/>
                <a:sym typeface="Patrick Hand"/>
              </a:defRPr>
            </a:lvl2pPr>
            <a:lvl3pPr lvl="2" algn="ctr" rtl="0">
              <a:spcBef>
                <a:spcPts val="0"/>
              </a:spcBef>
              <a:spcAft>
                <a:spcPts val="0"/>
              </a:spcAft>
              <a:buSzPts val="2800"/>
              <a:buFont typeface="Patrick Hand"/>
              <a:buNone/>
              <a:defRPr>
                <a:latin typeface="Patrick Hand"/>
                <a:ea typeface="Patrick Hand"/>
                <a:cs typeface="Patrick Hand"/>
                <a:sym typeface="Patrick Hand"/>
              </a:defRPr>
            </a:lvl3pPr>
            <a:lvl4pPr lvl="3" algn="ctr" rtl="0">
              <a:spcBef>
                <a:spcPts val="0"/>
              </a:spcBef>
              <a:spcAft>
                <a:spcPts val="0"/>
              </a:spcAft>
              <a:buSzPts val="2800"/>
              <a:buFont typeface="Patrick Hand"/>
              <a:buNone/>
              <a:defRPr>
                <a:latin typeface="Patrick Hand"/>
                <a:ea typeface="Patrick Hand"/>
                <a:cs typeface="Patrick Hand"/>
                <a:sym typeface="Patrick Hand"/>
              </a:defRPr>
            </a:lvl4pPr>
            <a:lvl5pPr lvl="4" algn="ctr" rtl="0">
              <a:spcBef>
                <a:spcPts val="0"/>
              </a:spcBef>
              <a:spcAft>
                <a:spcPts val="0"/>
              </a:spcAft>
              <a:buSzPts val="2800"/>
              <a:buFont typeface="Patrick Hand"/>
              <a:buNone/>
              <a:defRPr>
                <a:latin typeface="Patrick Hand"/>
                <a:ea typeface="Patrick Hand"/>
                <a:cs typeface="Patrick Hand"/>
                <a:sym typeface="Patrick Hand"/>
              </a:defRPr>
            </a:lvl5pPr>
            <a:lvl6pPr lvl="5" algn="ctr" rtl="0">
              <a:spcBef>
                <a:spcPts val="0"/>
              </a:spcBef>
              <a:spcAft>
                <a:spcPts val="0"/>
              </a:spcAft>
              <a:buSzPts val="2800"/>
              <a:buFont typeface="Patrick Hand"/>
              <a:buNone/>
              <a:defRPr>
                <a:latin typeface="Patrick Hand"/>
                <a:ea typeface="Patrick Hand"/>
                <a:cs typeface="Patrick Hand"/>
                <a:sym typeface="Patrick Hand"/>
              </a:defRPr>
            </a:lvl6pPr>
            <a:lvl7pPr lvl="6" algn="ctr" rtl="0">
              <a:spcBef>
                <a:spcPts val="0"/>
              </a:spcBef>
              <a:spcAft>
                <a:spcPts val="0"/>
              </a:spcAft>
              <a:buSzPts val="2800"/>
              <a:buFont typeface="Patrick Hand"/>
              <a:buNone/>
              <a:defRPr>
                <a:latin typeface="Patrick Hand"/>
                <a:ea typeface="Patrick Hand"/>
                <a:cs typeface="Patrick Hand"/>
                <a:sym typeface="Patrick Hand"/>
              </a:defRPr>
            </a:lvl7pPr>
            <a:lvl8pPr lvl="7" algn="ctr" rtl="0">
              <a:spcBef>
                <a:spcPts val="0"/>
              </a:spcBef>
              <a:spcAft>
                <a:spcPts val="0"/>
              </a:spcAft>
              <a:buSzPts val="2800"/>
              <a:buFont typeface="Patrick Hand"/>
              <a:buNone/>
              <a:defRPr>
                <a:latin typeface="Patrick Hand"/>
                <a:ea typeface="Patrick Hand"/>
                <a:cs typeface="Patrick Hand"/>
                <a:sym typeface="Patrick Hand"/>
              </a:defRPr>
            </a:lvl8pPr>
            <a:lvl9pPr lvl="8" algn="ctr"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51"/>
        <p:cNvGrpSpPr/>
        <p:nvPr/>
      </p:nvGrpSpPr>
      <p:grpSpPr>
        <a:xfrm>
          <a:off x="0" y="0"/>
          <a:ext cx="0" cy="0"/>
          <a:chOff x="0" y="0"/>
          <a:chExt cx="0" cy="0"/>
        </a:xfrm>
      </p:grpSpPr>
      <p:pic>
        <p:nvPicPr>
          <p:cNvPr id="52" name="Google Shape;52;p13"/>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
        <p:nvSpPr>
          <p:cNvPr id="53" name="Google Shape;53;p13"/>
          <p:cNvSpPr txBox="1">
            <a:spLocks noGrp="1"/>
          </p:cNvSpPr>
          <p:nvPr>
            <p:ph type="subTitle" idx="1"/>
          </p:nvPr>
        </p:nvSpPr>
        <p:spPr>
          <a:xfrm>
            <a:off x="2482025" y="2543050"/>
            <a:ext cx="1864200" cy="55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4" name="Google Shape;54;p13"/>
          <p:cNvSpPr txBox="1">
            <a:spLocks noGrp="1"/>
          </p:cNvSpPr>
          <p:nvPr>
            <p:ph type="title"/>
          </p:nvPr>
        </p:nvSpPr>
        <p:spPr>
          <a:xfrm>
            <a:off x="2482125" y="1860000"/>
            <a:ext cx="1864200" cy="8181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55" name="Google Shape;55;p13"/>
          <p:cNvSpPr txBox="1">
            <a:spLocks noGrp="1"/>
          </p:cNvSpPr>
          <p:nvPr>
            <p:ph type="title" idx="2" hasCustomPrompt="1"/>
          </p:nvPr>
        </p:nvSpPr>
        <p:spPr>
          <a:xfrm>
            <a:off x="878475" y="1741850"/>
            <a:ext cx="1658700" cy="108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8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6" name="Google Shape;56;p13"/>
          <p:cNvSpPr txBox="1">
            <a:spLocks noGrp="1"/>
          </p:cNvSpPr>
          <p:nvPr>
            <p:ph type="ctrTitle" idx="3"/>
          </p:nvPr>
        </p:nvSpPr>
        <p:spPr>
          <a:xfrm>
            <a:off x="2580375" y="307074"/>
            <a:ext cx="3983400" cy="12282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4800"/>
              <a:buNone/>
              <a:defRPr sz="6500" b="0">
                <a:latin typeface="Federo"/>
                <a:ea typeface="Federo"/>
                <a:cs typeface="Federo"/>
                <a:sym typeface="Fede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3"/>
          <p:cNvSpPr txBox="1">
            <a:spLocks noGrp="1"/>
          </p:cNvSpPr>
          <p:nvPr>
            <p:ph type="subTitle" idx="4"/>
          </p:nvPr>
        </p:nvSpPr>
        <p:spPr>
          <a:xfrm>
            <a:off x="6248975" y="2543050"/>
            <a:ext cx="1864200" cy="55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8" name="Google Shape;58;p13"/>
          <p:cNvSpPr txBox="1">
            <a:spLocks noGrp="1"/>
          </p:cNvSpPr>
          <p:nvPr>
            <p:ph type="title" idx="5"/>
          </p:nvPr>
        </p:nvSpPr>
        <p:spPr>
          <a:xfrm>
            <a:off x="6249075" y="1860000"/>
            <a:ext cx="1864200" cy="8181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59" name="Google Shape;59;p13"/>
          <p:cNvSpPr txBox="1">
            <a:spLocks noGrp="1"/>
          </p:cNvSpPr>
          <p:nvPr>
            <p:ph type="title" idx="6" hasCustomPrompt="1"/>
          </p:nvPr>
        </p:nvSpPr>
        <p:spPr>
          <a:xfrm>
            <a:off x="4645425" y="1741850"/>
            <a:ext cx="1658700" cy="108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8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0" name="Google Shape;60;p13"/>
          <p:cNvSpPr txBox="1">
            <a:spLocks noGrp="1"/>
          </p:cNvSpPr>
          <p:nvPr>
            <p:ph type="subTitle" idx="7"/>
          </p:nvPr>
        </p:nvSpPr>
        <p:spPr>
          <a:xfrm>
            <a:off x="2482025" y="4126650"/>
            <a:ext cx="1864200" cy="55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1" name="Google Shape;61;p13"/>
          <p:cNvSpPr txBox="1">
            <a:spLocks noGrp="1"/>
          </p:cNvSpPr>
          <p:nvPr>
            <p:ph type="title" idx="8"/>
          </p:nvPr>
        </p:nvSpPr>
        <p:spPr>
          <a:xfrm>
            <a:off x="2482125" y="3443600"/>
            <a:ext cx="1864200" cy="8181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62" name="Google Shape;62;p13"/>
          <p:cNvSpPr txBox="1">
            <a:spLocks noGrp="1"/>
          </p:cNvSpPr>
          <p:nvPr>
            <p:ph type="title" idx="9" hasCustomPrompt="1"/>
          </p:nvPr>
        </p:nvSpPr>
        <p:spPr>
          <a:xfrm>
            <a:off x="878475" y="3325450"/>
            <a:ext cx="1658700" cy="108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8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3" name="Google Shape;63;p13"/>
          <p:cNvSpPr txBox="1">
            <a:spLocks noGrp="1"/>
          </p:cNvSpPr>
          <p:nvPr>
            <p:ph type="subTitle" idx="13"/>
          </p:nvPr>
        </p:nvSpPr>
        <p:spPr>
          <a:xfrm>
            <a:off x="6248975" y="4126650"/>
            <a:ext cx="1864200" cy="55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4" name="Google Shape;64;p13"/>
          <p:cNvSpPr txBox="1">
            <a:spLocks noGrp="1"/>
          </p:cNvSpPr>
          <p:nvPr>
            <p:ph type="title" idx="14"/>
          </p:nvPr>
        </p:nvSpPr>
        <p:spPr>
          <a:xfrm>
            <a:off x="6249075" y="3443600"/>
            <a:ext cx="1864200" cy="8181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65" name="Google Shape;65;p13"/>
          <p:cNvSpPr txBox="1">
            <a:spLocks noGrp="1"/>
          </p:cNvSpPr>
          <p:nvPr>
            <p:ph type="title" idx="15" hasCustomPrompt="1"/>
          </p:nvPr>
        </p:nvSpPr>
        <p:spPr>
          <a:xfrm>
            <a:off x="4645425" y="3325450"/>
            <a:ext cx="1658700" cy="108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8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
  <p:cSld name="CUSTOM_6">
    <p:spTree>
      <p:nvGrpSpPr>
        <p:cNvPr id="1" name="Shape 75"/>
        <p:cNvGrpSpPr/>
        <p:nvPr/>
      </p:nvGrpSpPr>
      <p:grpSpPr>
        <a:xfrm>
          <a:off x="0" y="0"/>
          <a:ext cx="0" cy="0"/>
          <a:chOff x="0" y="0"/>
          <a:chExt cx="0" cy="0"/>
        </a:xfrm>
      </p:grpSpPr>
      <p:pic>
        <p:nvPicPr>
          <p:cNvPr id="76" name="Google Shape;76;p15"/>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
        <p:nvSpPr>
          <p:cNvPr id="77" name="Google Shape;77;p15"/>
          <p:cNvSpPr txBox="1">
            <a:spLocks noGrp="1"/>
          </p:cNvSpPr>
          <p:nvPr>
            <p:ph type="subTitle" idx="1"/>
          </p:nvPr>
        </p:nvSpPr>
        <p:spPr>
          <a:xfrm>
            <a:off x="2290075" y="2405659"/>
            <a:ext cx="4564200" cy="149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8" name="Google Shape;78;p15"/>
          <p:cNvSpPr txBox="1">
            <a:spLocks noGrp="1"/>
          </p:cNvSpPr>
          <p:nvPr>
            <p:ph type="ctrTitle"/>
          </p:nvPr>
        </p:nvSpPr>
        <p:spPr>
          <a:xfrm>
            <a:off x="2289975" y="1253650"/>
            <a:ext cx="4564200" cy="12282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4800"/>
              <a:buNone/>
              <a:defRPr sz="6500" b="0">
                <a:latin typeface="Federo"/>
                <a:ea typeface="Federo"/>
                <a:cs typeface="Federo"/>
                <a:sym typeface="Fede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 name="Shape 83"/>
        <p:cNvGrpSpPr/>
        <p:nvPr/>
      </p:nvGrpSpPr>
      <p:grpSpPr>
        <a:xfrm>
          <a:off x="0" y="0"/>
          <a:ext cx="0" cy="0"/>
          <a:chOff x="0" y="0"/>
          <a:chExt cx="0" cy="0"/>
        </a:xfrm>
      </p:grpSpPr>
      <p:pic>
        <p:nvPicPr>
          <p:cNvPr id="84" name="Google Shape;84;p17"/>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
        <p:nvSpPr>
          <p:cNvPr id="85" name="Google Shape;85;p17"/>
          <p:cNvSpPr txBox="1">
            <a:spLocks noGrp="1"/>
          </p:cNvSpPr>
          <p:nvPr>
            <p:ph type="subTitle" idx="1"/>
          </p:nvPr>
        </p:nvSpPr>
        <p:spPr>
          <a:xfrm>
            <a:off x="2129560" y="1092025"/>
            <a:ext cx="4884600" cy="2286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30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6" name="Google Shape;86;p17"/>
          <p:cNvSpPr txBox="1">
            <a:spLocks noGrp="1"/>
          </p:cNvSpPr>
          <p:nvPr>
            <p:ph type="title"/>
          </p:nvPr>
        </p:nvSpPr>
        <p:spPr>
          <a:xfrm>
            <a:off x="2800950" y="4231443"/>
            <a:ext cx="3542400" cy="5229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
  <p:cSld name="CUSTOM_2">
    <p:spTree>
      <p:nvGrpSpPr>
        <p:cNvPr id="1" name="Shape 176"/>
        <p:cNvGrpSpPr/>
        <p:nvPr/>
      </p:nvGrpSpPr>
      <p:grpSpPr>
        <a:xfrm>
          <a:off x="0" y="0"/>
          <a:ext cx="0" cy="0"/>
          <a:chOff x="0" y="0"/>
          <a:chExt cx="0" cy="0"/>
        </a:xfrm>
      </p:grpSpPr>
      <p:pic>
        <p:nvPicPr>
          <p:cNvPr id="177" name="Google Shape;177;p29"/>
          <p:cNvPicPr preferRelativeResize="0"/>
          <p:nvPr/>
        </p:nvPicPr>
        <p:blipFill rotWithShape="1">
          <a:blip r:embed="rId2">
            <a:alphaModFix amt="30000"/>
          </a:blip>
          <a:srcRect l="4276" t="6104" r="4148" b="6314"/>
          <a:stretch/>
        </p:blipFill>
        <p:spPr>
          <a:xfrm>
            <a:off x="0" y="0"/>
            <a:ext cx="9144003" cy="5143499"/>
          </a:xfrm>
          <a:prstGeom prst="rect">
            <a:avLst/>
          </a:prstGeom>
          <a:noFill/>
          <a:ln>
            <a:noFill/>
          </a:ln>
        </p:spPr>
      </p:pic>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Federo"/>
              <a:buNone/>
              <a:defRPr sz="3000">
                <a:solidFill>
                  <a:schemeClr val="dk1"/>
                </a:solidFill>
                <a:latin typeface="Federo"/>
                <a:ea typeface="Federo"/>
                <a:cs typeface="Federo"/>
                <a:sym typeface="Federo"/>
              </a:defRPr>
            </a:lvl1pPr>
            <a:lvl2pPr lvl="1"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2pPr>
            <a:lvl3pPr lvl="2"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3pPr>
            <a:lvl4pPr lvl="3"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4pPr>
            <a:lvl5pPr lvl="4"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5pPr>
            <a:lvl6pPr lvl="5"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6pPr>
            <a:lvl7pPr lvl="6"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7pPr>
            <a:lvl8pPr lvl="7"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8pPr>
            <a:lvl9pPr lvl="8" rtl="0">
              <a:spcBef>
                <a:spcPts val="0"/>
              </a:spcBef>
              <a:spcAft>
                <a:spcPts val="0"/>
              </a:spcAft>
              <a:buClr>
                <a:schemeClr val="dk1"/>
              </a:buClr>
              <a:buSzPts val="2800"/>
              <a:buFont typeface="Federo"/>
              <a:buNone/>
              <a:defRPr sz="2800">
                <a:solidFill>
                  <a:schemeClr val="dk1"/>
                </a:solidFill>
                <a:latin typeface="Federo"/>
                <a:ea typeface="Federo"/>
                <a:cs typeface="Federo"/>
                <a:sym typeface="Federo"/>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1pPr>
            <a:lvl2pPr marL="914400" lvl="1"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2pPr>
            <a:lvl3pPr marL="1371600" lvl="2"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3pPr>
            <a:lvl4pPr marL="1828800" lvl="3"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4pPr>
            <a:lvl5pPr marL="2286000" lvl="4"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5pPr>
            <a:lvl6pPr marL="2743200" lvl="5"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6pPr>
            <a:lvl7pPr marL="3200400" lvl="6"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7pPr>
            <a:lvl8pPr marL="3657600" lvl="7"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8pPr>
            <a:lvl9pPr marL="4114800" lvl="8" indent="-317500" rtl="0">
              <a:lnSpc>
                <a:spcPct val="100000"/>
              </a:lnSpc>
              <a:spcBef>
                <a:spcPts val="0"/>
              </a:spcBef>
              <a:spcAft>
                <a:spcPts val="0"/>
              </a:spcAft>
              <a:buClr>
                <a:schemeClr val="dk1"/>
              </a:buClr>
              <a:buSzPts val="1400"/>
              <a:buFont typeface="Crimson Pro"/>
              <a:buChar char="■"/>
              <a:defRPr>
                <a:solidFill>
                  <a:schemeClr val="dk1"/>
                </a:solidFill>
                <a:latin typeface="Crimson Pro"/>
                <a:ea typeface="Crimson Pro"/>
                <a:cs typeface="Crimson Pro"/>
                <a:sym typeface="Crimso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9" r:id="rId4"/>
    <p:sldLayoutId id="2147483661" r:id="rId5"/>
    <p:sldLayoutId id="2147483663" r:id="rId6"/>
    <p:sldLayoutId id="2147483675" r:id="rId7"/>
  </p:sldLayoutIdLst>
  <p:transition spd="slow">
    <p:push dir="u"/>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33"/>
          <p:cNvSpPr txBox="1">
            <a:spLocks noGrp="1"/>
          </p:cNvSpPr>
          <p:nvPr>
            <p:ph type="ctrTitle"/>
          </p:nvPr>
        </p:nvSpPr>
        <p:spPr>
          <a:xfrm>
            <a:off x="953100" y="1217604"/>
            <a:ext cx="7237800" cy="236089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000" dirty="0">
                <a:solidFill>
                  <a:schemeClr val="dk1"/>
                </a:solidFill>
                <a:latin typeface="Cooper Black" panose="0208090404030B020404" pitchFamily="18" charset="0"/>
              </a:rPr>
              <a:t>HOTEL BOOKING</a:t>
            </a:r>
            <a:r>
              <a:rPr lang="en" sz="4800" dirty="0">
                <a:solidFill>
                  <a:schemeClr val="dk1"/>
                </a:solidFill>
                <a:latin typeface="Cooper Black" panose="0208090404030B020404" pitchFamily="18" charset="0"/>
              </a:rPr>
              <a:t> </a:t>
            </a:r>
            <a:r>
              <a:rPr lang="en" sz="4400" dirty="0">
                <a:solidFill>
                  <a:srgbClr val="FFC000"/>
                </a:solidFill>
                <a:latin typeface="Cooper Black" panose="0208090404030B020404" pitchFamily="18" charset="0"/>
              </a:rPr>
              <a:t>ANALYSIS</a:t>
            </a:r>
            <a:endParaRPr sz="4400" dirty="0">
              <a:solidFill>
                <a:srgbClr val="FFC000"/>
              </a:solidFill>
              <a:latin typeface="Cooper Black" panose="0208090404030B020404" pitchFamily="18" charset="0"/>
            </a:endParaRPr>
          </a:p>
        </p:txBody>
      </p:sp>
      <p:sp>
        <p:nvSpPr>
          <p:cNvPr id="190" name="Google Shape;190;p33"/>
          <p:cNvSpPr txBox="1">
            <a:spLocks noGrp="1"/>
          </p:cNvSpPr>
          <p:nvPr>
            <p:ph type="subTitle" idx="1"/>
          </p:nvPr>
        </p:nvSpPr>
        <p:spPr>
          <a:xfrm>
            <a:off x="1162073" y="3473671"/>
            <a:ext cx="3223927" cy="86789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Presented By:</a:t>
            </a:r>
          </a:p>
          <a:p>
            <a:pPr marL="0" lvl="0" indent="0" algn="ctr" rtl="0">
              <a:spcBef>
                <a:spcPts val="0"/>
              </a:spcBef>
              <a:spcAft>
                <a:spcPts val="0"/>
              </a:spcAft>
              <a:buNone/>
            </a:pPr>
            <a:r>
              <a:rPr lang="en-IN" dirty="0"/>
              <a:t>Rupali </a:t>
            </a:r>
            <a:r>
              <a:rPr lang="en-IN" dirty="0" err="1"/>
              <a:t>Gandole</a:t>
            </a:r>
            <a:endParaRPr dirty="0"/>
          </a:p>
        </p:txBody>
      </p:sp>
      <p:sp>
        <p:nvSpPr>
          <p:cNvPr id="192" name="Google Shape;192;p33"/>
          <p:cNvSpPr/>
          <p:nvPr/>
        </p:nvSpPr>
        <p:spPr>
          <a:xfrm>
            <a:off x="4386000" y="3018300"/>
            <a:ext cx="372000" cy="372000"/>
          </a:xfrm>
          <a:prstGeom prst="star4">
            <a:avLst>
              <a:gd name="adj" fmla="val 7273"/>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3"/>
          <p:cNvSpPr/>
          <p:nvPr/>
        </p:nvSpPr>
        <p:spPr>
          <a:xfrm>
            <a:off x="6612275" y="2398050"/>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90;p33">
            <a:extLst>
              <a:ext uri="{FF2B5EF4-FFF2-40B4-BE49-F238E27FC236}">
                <a16:creationId xmlns:a16="http://schemas.microsoft.com/office/drawing/2014/main" id="{0553C33F-9327-C54B-5737-EFCD1FBE5FED}"/>
              </a:ext>
            </a:extLst>
          </p:cNvPr>
          <p:cNvSpPr txBox="1">
            <a:spLocks/>
          </p:cNvSpPr>
          <p:nvPr/>
        </p:nvSpPr>
        <p:spPr>
          <a:xfrm>
            <a:off x="4644359" y="3473671"/>
            <a:ext cx="3018264" cy="6767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800"/>
              <a:buFont typeface="Crimson Pro"/>
              <a:buNone/>
              <a:defRPr sz="1600" b="0" i="0" u="none" strike="noStrike" cap="none">
                <a:solidFill>
                  <a:schemeClr val="dk1"/>
                </a:solidFill>
                <a:latin typeface="Crimson Pro"/>
                <a:ea typeface="Crimson Pro"/>
                <a:cs typeface="Crimson Pro"/>
                <a:sym typeface="Crimson Pro"/>
              </a:defRPr>
            </a:lvl1pPr>
            <a:lvl2pPr marL="914400" marR="0" lvl="1"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2pPr>
            <a:lvl3pPr marL="1371600" marR="0" lvl="2"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3pPr>
            <a:lvl4pPr marL="1828800" marR="0" lvl="3"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4pPr>
            <a:lvl5pPr marL="2286000" marR="0" lvl="4"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5pPr>
            <a:lvl6pPr marL="2743200" marR="0" lvl="5"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6pPr>
            <a:lvl7pPr marL="3200400" marR="0" lvl="6"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7pPr>
            <a:lvl8pPr marL="3657600" marR="0" lvl="7"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8pPr>
            <a:lvl9pPr marL="4114800" marR="0" lvl="8" indent="-317500" algn="ctr" rtl="0">
              <a:lnSpc>
                <a:spcPct val="100000"/>
              </a:lnSpc>
              <a:spcBef>
                <a:spcPts val="0"/>
              </a:spcBef>
              <a:spcAft>
                <a:spcPts val="0"/>
              </a:spcAft>
              <a:buClr>
                <a:schemeClr val="dk1"/>
              </a:buClr>
              <a:buSzPts val="1800"/>
              <a:buFont typeface="Crimson Pro"/>
              <a:buNone/>
              <a:defRPr sz="1800" b="0" i="0" u="none" strike="noStrike" cap="none">
                <a:solidFill>
                  <a:schemeClr val="dk1"/>
                </a:solidFill>
                <a:latin typeface="Crimson Pro"/>
                <a:ea typeface="Crimson Pro"/>
                <a:cs typeface="Crimson Pro"/>
                <a:sym typeface="Crimson Pro"/>
              </a:defRPr>
            </a:lvl9pPr>
          </a:lstStyle>
          <a:p>
            <a:pPr marL="0" indent="0">
              <a:buSzPts val="1100"/>
              <a:buFont typeface="Arial"/>
              <a:buNone/>
            </a:pPr>
            <a:r>
              <a:rPr lang="en-US" dirty="0"/>
              <a:t>Guided By:</a:t>
            </a:r>
          </a:p>
          <a:p>
            <a:pPr marL="0" indent="0">
              <a:buSzPts val="1100"/>
            </a:pPr>
            <a:r>
              <a:rPr lang="en-IN" sz="1600" dirty="0">
                <a:latin typeface="Times New Roman" panose="02020603050405020304" pitchFamily="18" charset="0"/>
                <a:cs typeface="Times New Roman" panose="02020603050405020304" pitchFamily="18" charset="0"/>
              </a:rPr>
              <a:t>Abhishek </a:t>
            </a:r>
            <a:r>
              <a:rPr lang="en-IN" sz="1600" dirty="0" err="1">
                <a:latin typeface="Times New Roman" panose="02020603050405020304" pitchFamily="18" charset="0"/>
                <a:cs typeface="Times New Roman" panose="02020603050405020304" pitchFamily="18" charset="0"/>
              </a:rPr>
              <a:t>Wavhal</a:t>
            </a:r>
            <a:endParaRPr lang="en-IN" sz="1600" dirty="0">
              <a:latin typeface="Times New Roman" panose="02020603050405020304" pitchFamily="18" charset="0"/>
              <a:cs typeface="Times New Roman" panose="02020603050405020304" pitchFamily="18" charset="0"/>
            </a:endParaRPr>
          </a:p>
          <a:p>
            <a:pPr marL="0" indent="0">
              <a:buSzPts val="1100"/>
              <a:buFont typeface="Arial"/>
              <a:buNone/>
            </a:pPr>
            <a:endParaRPr lang="en-US" dirty="0"/>
          </a:p>
          <a:p>
            <a:pPr marL="0" indent="0"/>
            <a:endParaRPr lang="en-US" dirty="0"/>
          </a:p>
        </p:txBody>
      </p:sp>
      <p:sp>
        <p:nvSpPr>
          <p:cNvPr id="4" name="Google Shape;193;p33">
            <a:extLst>
              <a:ext uri="{FF2B5EF4-FFF2-40B4-BE49-F238E27FC236}">
                <a16:creationId xmlns:a16="http://schemas.microsoft.com/office/drawing/2014/main" id="{734FBDAE-046A-D892-A326-E9F9EA3B0EFC}"/>
              </a:ext>
            </a:extLst>
          </p:cNvPr>
          <p:cNvSpPr/>
          <p:nvPr/>
        </p:nvSpPr>
        <p:spPr>
          <a:xfrm>
            <a:off x="6764675" y="2550450"/>
            <a:ext cx="227400" cy="227700"/>
          </a:xfrm>
          <a:prstGeom prst="star4">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78A9E47D-91CF-D562-A19D-A03258B73CEB}"/>
              </a:ext>
            </a:extLst>
          </p:cNvPr>
          <p:cNvPicPr>
            <a:picLocks noChangeAspect="1"/>
          </p:cNvPicPr>
          <p:nvPr/>
        </p:nvPicPr>
        <p:blipFill>
          <a:blip r:embed="rId3"/>
          <a:stretch>
            <a:fillRect/>
          </a:stretch>
        </p:blipFill>
        <p:spPr>
          <a:xfrm>
            <a:off x="1368591" y="3748649"/>
            <a:ext cx="225572" cy="231668"/>
          </a:xfrm>
          <a:prstGeom prst="rect">
            <a:avLst/>
          </a:prstGeom>
        </p:spPr>
      </p:pic>
      <p:pic>
        <p:nvPicPr>
          <p:cNvPr id="7" name="Picture 6">
            <a:extLst>
              <a:ext uri="{FF2B5EF4-FFF2-40B4-BE49-F238E27FC236}">
                <a16:creationId xmlns:a16="http://schemas.microsoft.com/office/drawing/2014/main" id="{DB85E8CB-8D81-80A3-4731-57B84F6E89EC}"/>
              </a:ext>
            </a:extLst>
          </p:cNvPr>
          <p:cNvPicPr>
            <a:picLocks noChangeAspect="1"/>
          </p:cNvPicPr>
          <p:nvPr/>
        </p:nvPicPr>
        <p:blipFill>
          <a:blip r:embed="rId3"/>
          <a:stretch>
            <a:fillRect/>
          </a:stretch>
        </p:blipFill>
        <p:spPr>
          <a:xfrm>
            <a:off x="3106903" y="1438161"/>
            <a:ext cx="225572" cy="231668"/>
          </a:xfrm>
          <a:prstGeom prst="rect">
            <a:avLst/>
          </a:prstGeom>
        </p:spPr>
      </p:pic>
      <p:pic>
        <p:nvPicPr>
          <p:cNvPr id="11" name="Picture 10">
            <a:extLst>
              <a:ext uri="{FF2B5EF4-FFF2-40B4-BE49-F238E27FC236}">
                <a16:creationId xmlns:a16="http://schemas.microsoft.com/office/drawing/2014/main" id="{7AA16685-8944-C050-8DB9-E90F795AA5E7}"/>
              </a:ext>
            </a:extLst>
          </p:cNvPr>
          <p:cNvPicPr>
            <a:picLocks noChangeAspect="1"/>
          </p:cNvPicPr>
          <p:nvPr/>
        </p:nvPicPr>
        <p:blipFill>
          <a:blip r:embed="rId4"/>
          <a:srcRect r="46458" b="5278"/>
          <a:stretch>
            <a:fillRect/>
          </a:stretch>
        </p:blipFill>
        <p:spPr>
          <a:xfrm>
            <a:off x="3656795" y="2903688"/>
            <a:ext cx="1685694" cy="1689921"/>
          </a:xfrm>
          <a:prstGeom prst="ellipse">
            <a:avLst/>
          </a:prstGeom>
          <a:ln>
            <a:noFill/>
          </a:ln>
          <a:effectLst>
            <a:softEdge rad="112500"/>
          </a:effectLst>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35"/>
          <p:cNvSpPr txBox="1">
            <a:spLocks noGrp="1"/>
          </p:cNvSpPr>
          <p:nvPr>
            <p:ph type="title"/>
          </p:nvPr>
        </p:nvSpPr>
        <p:spPr>
          <a:xfrm>
            <a:off x="2056740" y="1514489"/>
            <a:ext cx="2150756" cy="58192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b="1" dirty="0">
                <a:latin typeface="+mj-lt"/>
              </a:rPr>
              <a:t>Project Summary</a:t>
            </a:r>
            <a:endParaRPr sz="1600" b="1" dirty="0">
              <a:latin typeface="+mj-lt"/>
            </a:endParaRPr>
          </a:p>
        </p:txBody>
      </p:sp>
      <p:sp>
        <p:nvSpPr>
          <p:cNvPr id="210" name="Google Shape;210;p35"/>
          <p:cNvSpPr txBox="1">
            <a:spLocks noGrp="1"/>
          </p:cNvSpPr>
          <p:nvPr>
            <p:ph type="title" idx="2"/>
          </p:nvPr>
        </p:nvSpPr>
        <p:spPr>
          <a:xfrm>
            <a:off x="1094458" y="1644593"/>
            <a:ext cx="943050" cy="56462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b="1" dirty="0">
                <a:solidFill>
                  <a:srgbClr val="FFC000"/>
                </a:solidFill>
                <a:latin typeface="+mn-lt"/>
              </a:rPr>
              <a:t>01</a:t>
            </a:r>
            <a:endParaRPr sz="4000" b="1" dirty="0">
              <a:solidFill>
                <a:srgbClr val="FFC000"/>
              </a:solidFill>
              <a:latin typeface="+mn-lt"/>
            </a:endParaRPr>
          </a:p>
        </p:txBody>
      </p:sp>
      <p:sp>
        <p:nvSpPr>
          <p:cNvPr id="211" name="Google Shape;211;p35"/>
          <p:cNvSpPr txBox="1">
            <a:spLocks noGrp="1"/>
          </p:cNvSpPr>
          <p:nvPr>
            <p:ph type="ctrTitle" idx="3"/>
          </p:nvPr>
        </p:nvSpPr>
        <p:spPr>
          <a:xfrm>
            <a:off x="2580375" y="307074"/>
            <a:ext cx="3983400" cy="122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Cooper Black" panose="0208090404030B020404" pitchFamily="18" charset="0"/>
              </a:rPr>
              <a:t>TABLE OF </a:t>
            </a:r>
            <a:br>
              <a:rPr lang="en" sz="3200" dirty="0">
                <a:latin typeface="Cooper Black" panose="0208090404030B020404" pitchFamily="18" charset="0"/>
              </a:rPr>
            </a:br>
            <a:r>
              <a:rPr lang="en" sz="3200" dirty="0">
                <a:solidFill>
                  <a:srgbClr val="FFC000"/>
                </a:solidFill>
                <a:latin typeface="Cooper Black" panose="0208090404030B020404" pitchFamily="18" charset="0"/>
              </a:rPr>
              <a:t>CONTENTS</a:t>
            </a:r>
            <a:endParaRPr sz="3200" dirty="0">
              <a:solidFill>
                <a:srgbClr val="FFC000"/>
              </a:solidFill>
              <a:latin typeface="Cooper Black" panose="0208090404030B020404" pitchFamily="18" charset="0"/>
            </a:endParaRPr>
          </a:p>
        </p:txBody>
      </p:sp>
      <p:sp>
        <p:nvSpPr>
          <p:cNvPr id="2" name="Google Shape;210;p35">
            <a:extLst>
              <a:ext uri="{FF2B5EF4-FFF2-40B4-BE49-F238E27FC236}">
                <a16:creationId xmlns:a16="http://schemas.microsoft.com/office/drawing/2014/main" id="{CB6B6583-7C2E-8E6E-C13D-027CEA82720B}"/>
              </a:ext>
            </a:extLst>
          </p:cNvPr>
          <p:cNvSpPr txBox="1">
            <a:spLocks/>
          </p:cNvSpPr>
          <p:nvPr/>
        </p:nvSpPr>
        <p:spPr>
          <a:xfrm>
            <a:off x="1094458" y="2339322"/>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02</a:t>
            </a:r>
          </a:p>
        </p:txBody>
      </p:sp>
      <p:sp>
        <p:nvSpPr>
          <p:cNvPr id="23" name="Google Shape;209;p35">
            <a:extLst>
              <a:ext uri="{FF2B5EF4-FFF2-40B4-BE49-F238E27FC236}">
                <a16:creationId xmlns:a16="http://schemas.microsoft.com/office/drawing/2014/main" id="{49A1F492-30EF-7ED6-79A2-3FD5238702F9}"/>
              </a:ext>
            </a:extLst>
          </p:cNvPr>
          <p:cNvSpPr txBox="1">
            <a:spLocks/>
          </p:cNvSpPr>
          <p:nvPr/>
        </p:nvSpPr>
        <p:spPr>
          <a:xfrm>
            <a:off x="2056740" y="2208057"/>
            <a:ext cx="2131524" cy="57960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Federo"/>
              <a:buNone/>
              <a:defRPr sz="2400" b="0" i="0" u="none" strike="noStrike" cap="none">
                <a:solidFill>
                  <a:schemeClr val="dk1"/>
                </a:solidFill>
                <a:latin typeface="Federo"/>
                <a:ea typeface="Federo"/>
                <a:cs typeface="Federo"/>
                <a:sym typeface="Federo"/>
              </a:defRPr>
            </a:lvl1pPr>
            <a:lvl2pPr marR="0" lvl="1"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2pPr>
            <a:lvl3pPr marR="0" lvl="2"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3pPr>
            <a:lvl4pPr marR="0" lvl="3"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4pPr>
            <a:lvl5pPr marR="0" lvl="4"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5pPr>
            <a:lvl6pPr marR="0" lvl="5"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6pPr>
            <a:lvl7pPr marR="0" lvl="6"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7pPr>
            <a:lvl8pPr marR="0" lvl="7"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8pPr>
            <a:lvl9pPr marR="0" lvl="8"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9pPr>
          </a:lstStyle>
          <a:p>
            <a:pPr algn="l"/>
            <a:r>
              <a:rPr lang="en-IN" sz="1600" b="1" dirty="0">
                <a:latin typeface="+mj-lt"/>
              </a:rPr>
              <a:t>Problem Statement</a:t>
            </a:r>
            <a:endParaRPr lang="en-CA" sz="1600" b="1" dirty="0">
              <a:latin typeface="+mn-lt"/>
            </a:endParaRPr>
          </a:p>
        </p:txBody>
      </p:sp>
      <p:sp>
        <p:nvSpPr>
          <p:cNvPr id="24" name="Google Shape;210;p35">
            <a:extLst>
              <a:ext uri="{FF2B5EF4-FFF2-40B4-BE49-F238E27FC236}">
                <a16:creationId xmlns:a16="http://schemas.microsoft.com/office/drawing/2014/main" id="{67775C79-B930-9EAF-B8DC-B6F25C1AA47C}"/>
              </a:ext>
            </a:extLst>
          </p:cNvPr>
          <p:cNvSpPr txBox="1">
            <a:spLocks/>
          </p:cNvSpPr>
          <p:nvPr/>
        </p:nvSpPr>
        <p:spPr>
          <a:xfrm>
            <a:off x="1075226" y="3031729"/>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03</a:t>
            </a:r>
          </a:p>
        </p:txBody>
      </p:sp>
      <p:sp>
        <p:nvSpPr>
          <p:cNvPr id="25" name="Google Shape;209;p35">
            <a:extLst>
              <a:ext uri="{FF2B5EF4-FFF2-40B4-BE49-F238E27FC236}">
                <a16:creationId xmlns:a16="http://schemas.microsoft.com/office/drawing/2014/main" id="{FAB01A3F-56F7-BA41-DC78-6FD0CDB66795}"/>
              </a:ext>
            </a:extLst>
          </p:cNvPr>
          <p:cNvSpPr txBox="1">
            <a:spLocks/>
          </p:cNvSpPr>
          <p:nvPr/>
        </p:nvSpPr>
        <p:spPr>
          <a:xfrm>
            <a:off x="2037508" y="2900464"/>
            <a:ext cx="2150756" cy="58192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RPr/>
            </a:defPPr>
            <a:lvl1pPr>
              <a:buClr>
                <a:schemeClr val="dk1"/>
              </a:buClr>
              <a:buSzPts val="1800"/>
              <a:buFont typeface="Federo"/>
              <a:buNone/>
              <a:defRPr sz="1600" b="1">
                <a:solidFill>
                  <a:schemeClr val="dk1"/>
                </a:solidFill>
                <a:latin typeface="+mj-lt"/>
                <a:ea typeface="Federo"/>
                <a:cs typeface="Federo"/>
              </a:defRPr>
            </a:lvl1pPr>
            <a:lvl2pPr>
              <a:buClr>
                <a:schemeClr val="dk1"/>
              </a:buClr>
              <a:buSzPts val="2800"/>
              <a:buFont typeface="Patrick Hand"/>
              <a:buNone/>
              <a:defRPr sz="2800">
                <a:solidFill>
                  <a:schemeClr val="dk1"/>
                </a:solidFill>
                <a:latin typeface="Patrick Hand"/>
                <a:ea typeface="Patrick Hand"/>
                <a:cs typeface="Patrick Hand"/>
              </a:defRPr>
            </a:lvl2pPr>
            <a:lvl3pPr>
              <a:buClr>
                <a:schemeClr val="dk1"/>
              </a:buClr>
              <a:buSzPts val="2800"/>
              <a:buFont typeface="Patrick Hand"/>
              <a:buNone/>
              <a:defRPr sz="2800">
                <a:solidFill>
                  <a:schemeClr val="dk1"/>
                </a:solidFill>
                <a:latin typeface="Patrick Hand"/>
                <a:ea typeface="Patrick Hand"/>
                <a:cs typeface="Patrick Hand"/>
              </a:defRPr>
            </a:lvl3pPr>
            <a:lvl4pPr>
              <a:buClr>
                <a:schemeClr val="dk1"/>
              </a:buClr>
              <a:buSzPts val="2800"/>
              <a:buFont typeface="Patrick Hand"/>
              <a:buNone/>
              <a:defRPr sz="2800">
                <a:solidFill>
                  <a:schemeClr val="dk1"/>
                </a:solidFill>
                <a:latin typeface="Patrick Hand"/>
                <a:ea typeface="Patrick Hand"/>
                <a:cs typeface="Patrick Hand"/>
              </a:defRPr>
            </a:lvl4pPr>
            <a:lvl5pPr>
              <a:buClr>
                <a:schemeClr val="dk1"/>
              </a:buClr>
              <a:buSzPts val="2800"/>
              <a:buFont typeface="Patrick Hand"/>
              <a:buNone/>
              <a:defRPr sz="2800">
                <a:solidFill>
                  <a:schemeClr val="dk1"/>
                </a:solidFill>
                <a:latin typeface="Patrick Hand"/>
                <a:ea typeface="Patrick Hand"/>
                <a:cs typeface="Patrick Hand"/>
              </a:defRPr>
            </a:lvl5pPr>
            <a:lvl6pPr>
              <a:buClr>
                <a:schemeClr val="dk1"/>
              </a:buClr>
              <a:buSzPts val="2800"/>
              <a:buFont typeface="Patrick Hand"/>
              <a:buNone/>
              <a:defRPr sz="2800">
                <a:solidFill>
                  <a:schemeClr val="dk1"/>
                </a:solidFill>
                <a:latin typeface="Patrick Hand"/>
                <a:ea typeface="Patrick Hand"/>
                <a:cs typeface="Patrick Hand"/>
              </a:defRPr>
            </a:lvl6pPr>
            <a:lvl7pPr>
              <a:buClr>
                <a:schemeClr val="dk1"/>
              </a:buClr>
              <a:buSzPts val="2800"/>
              <a:buFont typeface="Patrick Hand"/>
              <a:buNone/>
              <a:defRPr sz="2800">
                <a:solidFill>
                  <a:schemeClr val="dk1"/>
                </a:solidFill>
                <a:latin typeface="Patrick Hand"/>
                <a:ea typeface="Patrick Hand"/>
                <a:cs typeface="Patrick Hand"/>
              </a:defRPr>
            </a:lvl7pPr>
            <a:lvl8pPr>
              <a:buClr>
                <a:schemeClr val="dk1"/>
              </a:buClr>
              <a:buSzPts val="2800"/>
              <a:buFont typeface="Patrick Hand"/>
              <a:buNone/>
              <a:defRPr sz="2800">
                <a:solidFill>
                  <a:schemeClr val="dk1"/>
                </a:solidFill>
                <a:latin typeface="Patrick Hand"/>
                <a:ea typeface="Patrick Hand"/>
                <a:cs typeface="Patrick Hand"/>
              </a:defRPr>
            </a:lvl8pPr>
            <a:lvl9pPr>
              <a:buClr>
                <a:schemeClr val="dk1"/>
              </a:buClr>
              <a:buSzPts val="2800"/>
              <a:buFont typeface="Patrick Hand"/>
              <a:buNone/>
              <a:defRPr sz="2800">
                <a:solidFill>
                  <a:schemeClr val="dk1"/>
                </a:solidFill>
                <a:latin typeface="Patrick Hand"/>
                <a:ea typeface="Patrick Hand"/>
                <a:cs typeface="Patrick Hand"/>
              </a:defRPr>
            </a:lvl9pPr>
          </a:lstStyle>
          <a:p>
            <a:r>
              <a:rPr lang="en-IN" dirty="0"/>
              <a:t>Expected Outcomes</a:t>
            </a:r>
            <a:endParaRPr lang="en-CA" dirty="0"/>
          </a:p>
        </p:txBody>
      </p:sp>
      <p:sp>
        <p:nvSpPr>
          <p:cNvPr id="26" name="Google Shape;210;p35">
            <a:extLst>
              <a:ext uri="{FF2B5EF4-FFF2-40B4-BE49-F238E27FC236}">
                <a16:creationId xmlns:a16="http://schemas.microsoft.com/office/drawing/2014/main" id="{4859BECD-228F-D1C3-A0E6-8D64738953A6}"/>
              </a:ext>
            </a:extLst>
          </p:cNvPr>
          <p:cNvSpPr txBox="1">
            <a:spLocks/>
          </p:cNvSpPr>
          <p:nvPr/>
        </p:nvSpPr>
        <p:spPr>
          <a:xfrm>
            <a:off x="1075226" y="3724136"/>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04</a:t>
            </a:r>
          </a:p>
        </p:txBody>
      </p:sp>
      <p:sp>
        <p:nvSpPr>
          <p:cNvPr id="27" name="Google Shape;209;p35">
            <a:extLst>
              <a:ext uri="{FF2B5EF4-FFF2-40B4-BE49-F238E27FC236}">
                <a16:creationId xmlns:a16="http://schemas.microsoft.com/office/drawing/2014/main" id="{58E7293B-F848-8C18-E12E-EA103CBF6D6A}"/>
              </a:ext>
            </a:extLst>
          </p:cNvPr>
          <p:cNvSpPr txBox="1">
            <a:spLocks/>
          </p:cNvSpPr>
          <p:nvPr/>
        </p:nvSpPr>
        <p:spPr>
          <a:xfrm>
            <a:off x="2037508" y="3592871"/>
            <a:ext cx="1877267" cy="64337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RPr/>
            </a:defPPr>
            <a:lvl1pPr>
              <a:buClr>
                <a:schemeClr val="dk1"/>
              </a:buClr>
              <a:buSzPts val="1800"/>
              <a:buFont typeface="Federo"/>
              <a:buNone/>
              <a:defRPr sz="1600" b="1">
                <a:solidFill>
                  <a:schemeClr val="dk1"/>
                </a:solidFill>
                <a:latin typeface="+mj-lt"/>
                <a:ea typeface="Federo"/>
                <a:cs typeface="Federo"/>
              </a:defRPr>
            </a:lvl1pPr>
            <a:lvl2pPr>
              <a:buClr>
                <a:schemeClr val="dk1"/>
              </a:buClr>
              <a:buSzPts val="2800"/>
              <a:buFont typeface="Patrick Hand"/>
              <a:buNone/>
              <a:defRPr sz="2800">
                <a:solidFill>
                  <a:schemeClr val="dk1"/>
                </a:solidFill>
                <a:latin typeface="Patrick Hand"/>
                <a:ea typeface="Patrick Hand"/>
                <a:cs typeface="Patrick Hand"/>
              </a:defRPr>
            </a:lvl2pPr>
            <a:lvl3pPr>
              <a:buClr>
                <a:schemeClr val="dk1"/>
              </a:buClr>
              <a:buSzPts val="2800"/>
              <a:buFont typeface="Patrick Hand"/>
              <a:buNone/>
              <a:defRPr sz="2800">
                <a:solidFill>
                  <a:schemeClr val="dk1"/>
                </a:solidFill>
                <a:latin typeface="Patrick Hand"/>
                <a:ea typeface="Patrick Hand"/>
                <a:cs typeface="Patrick Hand"/>
              </a:defRPr>
            </a:lvl3pPr>
            <a:lvl4pPr>
              <a:buClr>
                <a:schemeClr val="dk1"/>
              </a:buClr>
              <a:buSzPts val="2800"/>
              <a:buFont typeface="Patrick Hand"/>
              <a:buNone/>
              <a:defRPr sz="2800">
                <a:solidFill>
                  <a:schemeClr val="dk1"/>
                </a:solidFill>
                <a:latin typeface="Patrick Hand"/>
                <a:ea typeface="Patrick Hand"/>
                <a:cs typeface="Patrick Hand"/>
              </a:defRPr>
            </a:lvl4pPr>
            <a:lvl5pPr>
              <a:buClr>
                <a:schemeClr val="dk1"/>
              </a:buClr>
              <a:buSzPts val="2800"/>
              <a:buFont typeface="Patrick Hand"/>
              <a:buNone/>
              <a:defRPr sz="2800">
                <a:solidFill>
                  <a:schemeClr val="dk1"/>
                </a:solidFill>
                <a:latin typeface="Patrick Hand"/>
                <a:ea typeface="Patrick Hand"/>
                <a:cs typeface="Patrick Hand"/>
              </a:defRPr>
            </a:lvl5pPr>
            <a:lvl6pPr>
              <a:buClr>
                <a:schemeClr val="dk1"/>
              </a:buClr>
              <a:buSzPts val="2800"/>
              <a:buFont typeface="Patrick Hand"/>
              <a:buNone/>
              <a:defRPr sz="2800">
                <a:solidFill>
                  <a:schemeClr val="dk1"/>
                </a:solidFill>
                <a:latin typeface="Patrick Hand"/>
                <a:ea typeface="Patrick Hand"/>
                <a:cs typeface="Patrick Hand"/>
              </a:defRPr>
            </a:lvl6pPr>
            <a:lvl7pPr>
              <a:buClr>
                <a:schemeClr val="dk1"/>
              </a:buClr>
              <a:buSzPts val="2800"/>
              <a:buFont typeface="Patrick Hand"/>
              <a:buNone/>
              <a:defRPr sz="2800">
                <a:solidFill>
                  <a:schemeClr val="dk1"/>
                </a:solidFill>
                <a:latin typeface="Patrick Hand"/>
                <a:ea typeface="Patrick Hand"/>
                <a:cs typeface="Patrick Hand"/>
              </a:defRPr>
            </a:lvl7pPr>
            <a:lvl8pPr>
              <a:buClr>
                <a:schemeClr val="dk1"/>
              </a:buClr>
              <a:buSzPts val="2800"/>
              <a:buFont typeface="Patrick Hand"/>
              <a:buNone/>
              <a:defRPr sz="2800">
                <a:solidFill>
                  <a:schemeClr val="dk1"/>
                </a:solidFill>
                <a:latin typeface="Patrick Hand"/>
                <a:ea typeface="Patrick Hand"/>
                <a:cs typeface="Patrick Hand"/>
              </a:defRPr>
            </a:lvl8pPr>
            <a:lvl9pPr>
              <a:buClr>
                <a:schemeClr val="dk1"/>
              </a:buClr>
              <a:buSzPts val="2800"/>
              <a:buFont typeface="Patrick Hand"/>
              <a:buNone/>
              <a:defRPr sz="2800">
                <a:solidFill>
                  <a:schemeClr val="dk1"/>
                </a:solidFill>
                <a:latin typeface="Patrick Hand"/>
                <a:ea typeface="Patrick Hand"/>
                <a:cs typeface="Patrick Hand"/>
              </a:defRPr>
            </a:lvl9pPr>
          </a:lstStyle>
          <a:p>
            <a:r>
              <a:rPr lang="en-IN" dirty="0"/>
              <a:t>About Data</a:t>
            </a:r>
            <a:endParaRPr lang="en-CA" dirty="0"/>
          </a:p>
        </p:txBody>
      </p:sp>
      <p:sp>
        <p:nvSpPr>
          <p:cNvPr id="30" name="Google Shape;210;p35">
            <a:extLst>
              <a:ext uri="{FF2B5EF4-FFF2-40B4-BE49-F238E27FC236}">
                <a16:creationId xmlns:a16="http://schemas.microsoft.com/office/drawing/2014/main" id="{21342B13-99CA-6CDA-BBBE-090C0CC7EDB4}"/>
              </a:ext>
            </a:extLst>
          </p:cNvPr>
          <p:cNvSpPr txBox="1">
            <a:spLocks/>
          </p:cNvSpPr>
          <p:nvPr/>
        </p:nvSpPr>
        <p:spPr>
          <a:xfrm>
            <a:off x="4904494" y="1645754"/>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05</a:t>
            </a:r>
          </a:p>
        </p:txBody>
      </p:sp>
      <p:sp>
        <p:nvSpPr>
          <p:cNvPr id="31" name="Google Shape;209;p35">
            <a:extLst>
              <a:ext uri="{FF2B5EF4-FFF2-40B4-BE49-F238E27FC236}">
                <a16:creationId xmlns:a16="http://schemas.microsoft.com/office/drawing/2014/main" id="{229BDF9A-CCC7-F813-7EEA-91145FE28C42}"/>
              </a:ext>
            </a:extLst>
          </p:cNvPr>
          <p:cNvSpPr txBox="1">
            <a:spLocks/>
          </p:cNvSpPr>
          <p:nvPr/>
        </p:nvSpPr>
        <p:spPr>
          <a:xfrm>
            <a:off x="5866776" y="1514489"/>
            <a:ext cx="2065458" cy="63578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RPr/>
            </a:defPPr>
            <a:lvl1pPr>
              <a:buClr>
                <a:schemeClr val="dk1"/>
              </a:buClr>
              <a:buSzPts val="1800"/>
              <a:buFont typeface="Federo"/>
              <a:buNone/>
              <a:defRPr sz="1600" b="1">
                <a:solidFill>
                  <a:schemeClr val="dk1"/>
                </a:solidFill>
                <a:latin typeface="+mj-lt"/>
                <a:ea typeface="Federo"/>
                <a:cs typeface="Federo"/>
              </a:defRPr>
            </a:lvl1pPr>
            <a:lvl2pPr>
              <a:buClr>
                <a:schemeClr val="dk1"/>
              </a:buClr>
              <a:buSzPts val="2800"/>
              <a:buFont typeface="Patrick Hand"/>
              <a:buNone/>
              <a:defRPr sz="2800">
                <a:solidFill>
                  <a:schemeClr val="dk1"/>
                </a:solidFill>
                <a:latin typeface="Patrick Hand"/>
                <a:ea typeface="Patrick Hand"/>
                <a:cs typeface="Patrick Hand"/>
              </a:defRPr>
            </a:lvl2pPr>
            <a:lvl3pPr>
              <a:buClr>
                <a:schemeClr val="dk1"/>
              </a:buClr>
              <a:buSzPts val="2800"/>
              <a:buFont typeface="Patrick Hand"/>
              <a:buNone/>
              <a:defRPr sz="2800">
                <a:solidFill>
                  <a:schemeClr val="dk1"/>
                </a:solidFill>
                <a:latin typeface="Patrick Hand"/>
                <a:ea typeface="Patrick Hand"/>
                <a:cs typeface="Patrick Hand"/>
              </a:defRPr>
            </a:lvl3pPr>
            <a:lvl4pPr>
              <a:buClr>
                <a:schemeClr val="dk1"/>
              </a:buClr>
              <a:buSzPts val="2800"/>
              <a:buFont typeface="Patrick Hand"/>
              <a:buNone/>
              <a:defRPr sz="2800">
                <a:solidFill>
                  <a:schemeClr val="dk1"/>
                </a:solidFill>
                <a:latin typeface="Patrick Hand"/>
                <a:ea typeface="Patrick Hand"/>
                <a:cs typeface="Patrick Hand"/>
              </a:defRPr>
            </a:lvl4pPr>
            <a:lvl5pPr>
              <a:buClr>
                <a:schemeClr val="dk1"/>
              </a:buClr>
              <a:buSzPts val="2800"/>
              <a:buFont typeface="Patrick Hand"/>
              <a:buNone/>
              <a:defRPr sz="2800">
                <a:solidFill>
                  <a:schemeClr val="dk1"/>
                </a:solidFill>
                <a:latin typeface="Patrick Hand"/>
                <a:ea typeface="Patrick Hand"/>
                <a:cs typeface="Patrick Hand"/>
              </a:defRPr>
            </a:lvl5pPr>
            <a:lvl6pPr>
              <a:buClr>
                <a:schemeClr val="dk1"/>
              </a:buClr>
              <a:buSzPts val="2800"/>
              <a:buFont typeface="Patrick Hand"/>
              <a:buNone/>
              <a:defRPr sz="2800">
                <a:solidFill>
                  <a:schemeClr val="dk1"/>
                </a:solidFill>
                <a:latin typeface="Patrick Hand"/>
                <a:ea typeface="Patrick Hand"/>
                <a:cs typeface="Patrick Hand"/>
              </a:defRPr>
            </a:lvl6pPr>
            <a:lvl7pPr>
              <a:buClr>
                <a:schemeClr val="dk1"/>
              </a:buClr>
              <a:buSzPts val="2800"/>
              <a:buFont typeface="Patrick Hand"/>
              <a:buNone/>
              <a:defRPr sz="2800">
                <a:solidFill>
                  <a:schemeClr val="dk1"/>
                </a:solidFill>
                <a:latin typeface="Patrick Hand"/>
                <a:ea typeface="Patrick Hand"/>
                <a:cs typeface="Patrick Hand"/>
              </a:defRPr>
            </a:lvl7pPr>
            <a:lvl8pPr>
              <a:buClr>
                <a:schemeClr val="dk1"/>
              </a:buClr>
              <a:buSzPts val="2800"/>
              <a:buFont typeface="Patrick Hand"/>
              <a:buNone/>
              <a:defRPr sz="2800">
                <a:solidFill>
                  <a:schemeClr val="dk1"/>
                </a:solidFill>
                <a:latin typeface="Patrick Hand"/>
                <a:ea typeface="Patrick Hand"/>
                <a:cs typeface="Patrick Hand"/>
              </a:defRPr>
            </a:lvl8pPr>
            <a:lvl9pPr>
              <a:buClr>
                <a:schemeClr val="dk1"/>
              </a:buClr>
              <a:buSzPts val="2800"/>
              <a:buFont typeface="Patrick Hand"/>
              <a:buNone/>
              <a:defRPr sz="2800">
                <a:solidFill>
                  <a:schemeClr val="dk1"/>
                </a:solidFill>
                <a:latin typeface="Patrick Hand"/>
                <a:ea typeface="Patrick Hand"/>
                <a:cs typeface="Patrick Hand"/>
              </a:defRPr>
            </a:lvl9pPr>
          </a:lstStyle>
          <a:p>
            <a:r>
              <a:rPr lang="en-IN" dirty="0"/>
              <a:t>Problem Statement</a:t>
            </a:r>
            <a:endParaRPr lang="en-CA" dirty="0"/>
          </a:p>
        </p:txBody>
      </p:sp>
      <p:sp>
        <p:nvSpPr>
          <p:cNvPr id="32" name="Google Shape;210;p35">
            <a:extLst>
              <a:ext uri="{FF2B5EF4-FFF2-40B4-BE49-F238E27FC236}">
                <a16:creationId xmlns:a16="http://schemas.microsoft.com/office/drawing/2014/main" id="{3DBC9DD7-E948-2CB2-12DE-BF9CC3486ACA}"/>
              </a:ext>
            </a:extLst>
          </p:cNvPr>
          <p:cNvSpPr txBox="1">
            <a:spLocks/>
          </p:cNvSpPr>
          <p:nvPr/>
        </p:nvSpPr>
        <p:spPr>
          <a:xfrm>
            <a:off x="4904494" y="2339322"/>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06</a:t>
            </a:r>
          </a:p>
        </p:txBody>
      </p:sp>
      <p:sp>
        <p:nvSpPr>
          <p:cNvPr id="33" name="Google Shape;209;p35">
            <a:extLst>
              <a:ext uri="{FF2B5EF4-FFF2-40B4-BE49-F238E27FC236}">
                <a16:creationId xmlns:a16="http://schemas.microsoft.com/office/drawing/2014/main" id="{F8B3EEA2-02B1-3619-EE06-8A81175CFE09}"/>
              </a:ext>
            </a:extLst>
          </p:cNvPr>
          <p:cNvSpPr txBox="1">
            <a:spLocks/>
          </p:cNvSpPr>
          <p:nvPr/>
        </p:nvSpPr>
        <p:spPr>
          <a:xfrm>
            <a:off x="5866776" y="2208057"/>
            <a:ext cx="1991349" cy="62761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RPr/>
            </a:defPPr>
            <a:lvl1pPr>
              <a:buClr>
                <a:schemeClr val="dk1"/>
              </a:buClr>
              <a:buSzPts val="1800"/>
              <a:buFont typeface="Federo"/>
              <a:buNone/>
              <a:defRPr sz="1600" b="1">
                <a:solidFill>
                  <a:schemeClr val="dk1"/>
                </a:solidFill>
                <a:latin typeface="+mj-lt"/>
                <a:ea typeface="Federo"/>
                <a:cs typeface="Federo"/>
              </a:defRPr>
            </a:lvl1pPr>
            <a:lvl2pPr>
              <a:buClr>
                <a:schemeClr val="dk1"/>
              </a:buClr>
              <a:buSzPts val="2800"/>
              <a:buFont typeface="Patrick Hand"/>
              <a:buNone/>
              <a:defRPr sz="2800">
                <a:solidFill>
                  <a:schemeClr val="dk1"/>
                </a:solidFill>
                <a:latin typeface="Patrick Hand"/>
                <a:ea typeface="Patrick Hand"/>
                <a:cs typeface="Patrick Hand"/>
              </a:defRPr>
            </a:lvl2pPr>
            <a:lvl3pPr>
              <a:buClr>
                <a:schemeClr val="dk1"/>
              </a:buClr>
              <a:buSzPts val="2800"/>
              <a:buFont typeface="Patrick Hand"/>
              <a:buNone/>
              <a:defRPr sz="2800">
                <a:solidFill>
                  <a:schemeClr val="dk1"/>
                </a:solidFill>
                <a:latin typeface="Patrick Hand"/>
                <a:ea typeface="Patrick Hand"/>
                <a:cs typeface="Patrick Hand"/>
              </a:defRPr>
            </a:lvl3pPr>
            <a:lvl4pPr>
              <a:buClr>
                <a:schemeClr val="dk1"/>
              </a:buClr>
              <a:buSzPts val="2800"/>
              <a:buFont typeface="Patrick Hand"/>
              <a:buNone/>
              <a:defRPr sz="2800">
                <a:solidFill>
                  <a:schemeClr val="dk1"/>
                </a:solidFill>
                <a:latin typeface="Patrick Hand"/>
                <a:ea typeface="Patrick Hand"/>
                <a:cs typeface="Patrick Hand"/>
              </a:defRPr>
            </a:lvl4pPr>
            <a:lvl5pPr>
              <a:buClr>
                <a:schemeClr val="dk1"/>
              </a:buClr>
              <a:buSzPts val="2800"/>
              <a:buFont typeface="Patrick Hand"/>
              <a:buNone/>
              <a:defRPr sz="2800">
                <a:solidFill>
                  <a:schemeClr val="dk1"/>
                </a:solidFill>
                <a:latin typeface="Patrick Hand"/>
                <a:ea typeface="Patrick Hand"/>
                <a:cs typeface="Patrick Hand"/>
              </a:defRPr>
            </a:lvl5pPr>
            <a:lvl6pPr>
              <a:buClr>
                <a:schemeClr val="dk1"/>
              </a:buClr>
              <a:buSzPts val="2800"/>
              <a:buFont typeface="Patrick Hand"/>
              <a:buNone/>
              <a:defRPr sz="2800">
                <a:solidFill>
                  <a:schemeClr val="dk1"/>
                </a:solidFill>
                <a:latin typeface="Patrick Hand"/>
                <a:ea typeface="Patrick Hand"/>
                <a:cs typeface="Patrick Hand"/>
              </a:defRPr>
            </a:lvl6pPr>
            <a:lvl7pPr>
              <a:buClr>
                <a:schemeClr val="dk1"/>
              </a:buClr>
              <a:buSzPts val="2800"/>
              <a:buFont typeface="Patrick Hand"/>
              <a:buNone/>
              <a:defRPr sz="2800">
                <a:solidFill>
                  <a:schemeClr val="dk1"/>
                </a:solidFill>
                <a:latin typeface="Patrick Hand"/>
                <a:ea typeface="Patrick Hand"/>
                <a:cs typeface="Patrick Hand"/>
              </a:defRPr>
            </a:lvl7pPr>
            <a:lvl8pPr>
              <a:buClr>
                <a:schemeClr val="dk1"/>
              </a:buClr>
              <a:buSzPts val="2800"/>
              <a:buFont typeface="Patrick Hand"/>
              <a:buNone/>
              <a:defRPr sz="2800">
                <a:solidFill>
                  <a:schemeClr val="dk1"/>
                </a:solidFill>
                <a:latin typeface="Patrick Hand"/>
                <a:ea typeface="Patrick Hand"/>
                <a:cs typeface="Patrick Hand"/>
              </a:defRPr>
            </a:lvl8pPr>
            <a:lvl9pPr>
              <a:buClr>
                <a:schemeClr val="dk1"/>
              </a:buClr>
              <a:buSzPts val="2800"/>
              <a:buFont typeface="Patrick Hand"/>
              <a:buNone/>
              <a:defRPr sz="2800">
                <a:solidFill>
                  <a:schemeClr val="dk1"/>
                </a:solidFill>
                <a:latin typeface="Patrick Hand"/>
                <a:ea typeface="Patrick Hand"/>
                <a:cs typeface="Patrick Hand"/>
              </a:defRPr>
            </a:lvl9pPr>
          </a:lstStyle>
          <a:p>
            <a:r>
              <a:rPr lang="en-IN" dirty="0"/>
              <a:t>Data</a:t>
            </a:r>
            <a:r>
              <a:rPr lang="en-CA" dirty="0"/>
              <a:t> Cleaning</a:t>
            </a:r>
          </a:p>
        </p:txBody>
      </p:sp>
      <p:sp>
        <p:nvSpPr>
          <p:cNvPr id="34" name="Google Shape;210;p35">
            <a:extLst>
              <a:ext uri="{FF2B5EF4-FFF2-40B4-BE49-F238E27FC236}">
                <a16:creationId xmlns:a16="http://schemas.microsoft.com/office/drawing/2014/main" id="{12C3CB32-00E6-72C1-E12A-204935DF694F}"/>
              </a:ext>
            </a:extLst>
          </p:cNvPr>
          <p:cNvSpPr txBox="1">
            <a:spLocks/>
          </p:cNvSpPr>
          <p:nvPr/>
        </p:nvSpPr>
        <p:spPr>
          <a:xfrm>
            <a:off x="4904494" y="3030568"/>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07</a:t>
            </a:r>
          </a:p>
        </p:txBody>
      </p:sp>
      <p:sp>
        <p:nvSpPr>
          <p:cNvPr id="35" name="Google Shape;209;p35">
            <a:extLst>
              <a:ext uri="{FF2B5EF4-FFF2-40B4-BE49-F238E27FC236}">
                <a16:creationId xmlns:a16="http://schemas.microsoft.com/office/drawing/2014/main" id="{A775FCAE-3488-5981-F2B7-DFBE1F8A0950}"/>
              </a:ext>
            </a:extLst>
          </p:cNvPr>
          <p:cNvSpPr txBox="1">
            <a:spLocks/>
          </p:cNvSpPr>
          <p:nvPr/>
        </p:nvSpPr>
        <p:spPr>
          <a:xfrm>
            <a:off x="5804534" y="2933122"/>
            <a:ext cx="2360772" cy="69356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RPr/>
            </a:defPPr>
            <a:lvl1pPr>
              <a:buClr>
                <a:schemeClr val="dk1"/>
              </a:buClr>
              <a:buSzPts val="1800"/>
              <a:buFont typeface="Federo"/>
              <a:buNone/>
              <a:defRPr sz="1600" b="1">
                <a:solidFill>
                  <a:schemeClr val="dk1"/>
                </a:solidFill>
                <a:latin typeface="+mj-lt"/>
                <a:ea typeface="Federo"/>
                <a:cs typeface="Federo"/>
              </a:defRPr>
            </a:lvl1pPr>
            <a:lvl2pPr>
              <a:buClr>
                <a:schemeClr val="dk1"/>
              </a:buClr>
              <a:buSzPts val="2800"/>
              <a:buFont typeface="Patrick Hand"/>
              <a:buNone/>
              <a:defRPr sz="2800">
                <a:solidFill>
                  <a:schemeClr val="dk1"/>
                </a:solidFill>
                <a:latin typeface="Patrick Hand"/>
                <a:ea typeface="Patrick Hand"/>
                <a:cs typeface="Patrick Hand"/>
              </a:defRPr>
            </a:lvl2pPr>
            <a:lvl3pPr>
              <a:buClr>
                <a:schemeClr val="dk1"/>
              </a:buClr>
              <a:buSzPts val="2800"/>
              <a:buFont typeface="Patrick Hand"/>
              <a:buNone/>
              <a:defRPr sz="2800">
                <a:solidFill>
                  <a:schemeClr val="dk1"/>
                </a:solidFill>
                <a:latin typeface="Patrick Hand"/>
                <a:ea typeface="Patrick Hand"/>
                <a:cs typeface="Patrick Hand"/>
              </a:defRPr>
            </a:lvl3pPr>
            <a:lvl4pPr>
              <a:buClr>
                <a:schemeClr val="dk1"/>
              </a:buClr>
              <a:buSzPts val="2800"/>
              <a:buFont typeface="Patrick Hand"/>
              <a:buNone/>
              <a:defRPr sz="2800">
                <a:solidFill>
                  <a:schemeClr val="dk1"/>
                </a:solidFill>
                <a:latin typeface="Patrick Hand"/>
                <a:ea typeface="Patrick Hand"/>
                <a:cs typeface="Patrick Hand"/>
              </a:defRPr>
            </a:lvl4pPr>
            <a:lvl5pPr>
              <a:buClr>
                <a:schemeClr val="dk1"/>
              </a:buClr>
              <a:buSzPts val="2800"/>
              <a:buFont typeface="Patrick Hand"/>
              <a:buNone/>
              <a:defRPr sz="2800">
                <a:solidFill>
                  <a:schemeClr val="dk1"/>
                </a:solidFill>
                <a:latin typeface="Patrick Hand"/>
                <a:ea typeface="Patrick Hand"/>
                <a:cs typeface="Patrick Hand"/>
              </a:defRPr>
            </a:lvl5pPr>
            <a:lvl6pPr>
              <a:buClr>
                <a:schemeClr val="dk1"/>
              </a:buClr>
              <a:buSzPts val="2800"/>
              <a:buFont typeface="Patrick Hand"/>
              <a:buNone/>
              <a:defRPr sz="2800">
                <a:solidFill>
                  <a:schemeClr val="dk1"/>
                </a:solidFill>
                <a:latin typeface="Patrick Hand"/>
                <a:ea typeface="Patrick Hand"/>
                <a:cs typeface="Patrick Hand"/>
              </a:defRPr>
            </a:lvl6pPr>
            <a:lvl7pPr>
              <a:buClr>
                <a:schemeClr val="dk1"/>
              </a:buClr>
              <a:buSzPts val="2800"/>
              <a:buFont typeface="Patrick Hand"/>
              <a:buNone/>
              <a:defRPr sz="2800">
                <a:solidFill>
                  <a:schemeClr val="dk1"/>
                </a:solidFill>
                <a:latin typeface="Patrick Hand"/>
                <a:ea typeface="Patrick Hand"/>
                <a:cs typeface="Patrick Hand"/>
              </a:defRPr>
            </a:lvl7pPr>
            <a:lvl8pPr>
              <a:buClr>
                <a:schemeClr val="dk1"/>
              </a:buClr>
              <a:buSzPts val="2800"/>
              <a:buFont typeface="Patrick Hand"/>
              <a:buNone/>
              <a:defRPr sz="2800">
                <a:solidFill>
                  <a:schemeClr val="dk1"/>
                </a:solidFill>
                <a:latin typeface="Patrick Hand"/>
                <a:ea typeface="Patrick Hand"/>
                <a:cs typeface="Patrick Hand"/>
              </a:defRPr>
            </a:lvl8pPr>
            <a:lvl9pPr>
              <a:buClr>
                <a:schemeClr val="dk1"/>
              </a:buClr>
              <a:buSzPts val="2800"/>
              <a:buFont typeface="Patrick Hand"/>
              <a:buNone/>
              <a:defRPr sz="2800">
                <a:solidFill>
                  <a:schemeClr val="dk1"/>
                </a:solidFill>
                <a:latin typeface="Patrick Hand"/>
                <a:ea typeface="Patrick Hand"/>
                <a:cs typeface="Patrick Hand"/>
              </a:defRPr>
            </a:lvl9pPr>
          </a:lstStyle>
          <a:p>
            <a:r>
              <a:rPr lang="en-IN" dirty="0"/>
              <a:t>Data</a:t>
            </a:r>
            <a:r>
              <a:rPr lang="en-CA" dirty="0"/>
              <a:t> Visualization and Analysis</a:t>
            </a:r>
          </a:p>
        </p:txBody>
      </p:sp>
      <p:sp>
        <p:nvSpPr>
          <p:cNvPr id="36" name="Google Shape;210;p35">
            <a:extLst>
              <a:ext uri="{FF2B5EF4-FFF2-40B4-BE49-F238E27FC236}">
                <a16:creationId xmlns:a16="http://schemas.microsoft.com/office/drawing/2014/main" id="{A5C9B5CD-F170-1E52-B7AB-3F366DE3E9C2}"/>
              </a:ext>
            </a:extLst>
          </p:cNvPr>
          <p:cNvSpPr txBox="1">
            <a:spLocks/>
          </p:cNvSpPr>
          <p:nvPr/>
        </p:nvSpPr>
        <p:spPr>
          <a:xfrm>
            <a:off x="4904494" y="3724136"/>
            <a:ext cx="943050" cy="5646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Federo"/>
              <a:buNone/>
              <a:defRPr sz="8800" b="0" i="0" u="none" strike="noStrike" cap="none">
                <a:solidFill>
                  <a:schemeClr val="dk1"/>
                </a:solidFill>
                <a:latin typeface="Federo"/>
                <a:ea typeface="Federo"/>
                <a:cs typeface="Federo"/>
                <a:sym typeface="Federo"/>
              </a:defRPr>
            </a:lvl1pPr>
            <a:lvl2pPr marR="0" lvl="1"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2pPr>
            <a:lvl3pPr marR="0" lvl="2"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3pPr>
            <a:lvl4pPr marR="0" lvl="3"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4pPr>
            <a:lvl5pPr marR="0" lvl="4"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5pPr>
            <a:lvl6pPr marR="0" lvl="5"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6pPr>
            <a:lvl7pPr marR="0" lvl="6"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7pPr>
            <a:lvl8pPr marR="0" lvl="7"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8pPr>
            <a:lvl9pPr marR="0" lvl="8" algn="ctr" rtl="0">
              <a:lnSpc>
                <a:spcPct val="100000"/>
              </a:lnSpc>
              <a:spcBef>
                <a:spcPts val="0"/>
              </a:spcBef>
              <a:spcAft>
                <a:spcPts val="0"/>
              </a:spcAft>
              <a:buClr>
                <a:schemeClr val="dk1"/>
              </a:buClr>
              <a:buSzPts val="12000"/>
              <a:buFont typeface="Federo"/>
              <a:buNone/>
              <a:defRPr sz="12000" b="0" i="0" u="none" strike="noStrike" cap="none">
                <a:solidFill>
                  <a:schemeClr val="dk1"/>
                </a:solidFill>
                <a:latin typeface="Federo"/>
                <a:ea typeface="Federo"/>
                <a:cs typeface="Federo"/>
                <a:sym typeface="Federo"/>
              </a:defRPr>
            </a:lvl9pPr>
          </a:lstStyle>
          <a:p>
            <a:r>
              <a:rPr lang="en" sz="4000" b="1" dirty="0">
                <a:solidFill>
                  <a:srgbClr val="FFC000"/>
                </a:solidFill>
                <a:latin typeface="+mn-lt"/>
              </a:rPr>
              <a:t>08</a:t>
            </a:r>
          </a:p>
        </p:txBody>
      </p:sp>
      <p:sp>
        <p:nvSpPr>
          <p:cNvPr id="37" name="Google Shape;209;p35">
            <a:extLst>
              <a:ext uri="{FF2B5EF4-FFF2-40B4-BE49-F238E27FC236}">
                <a16:creationId xmlns:a16="http://schemas.microsoft.com/office/drawing/2014/main" id="{282E7B0D-BBEF-5BC4-FD08-D351F8AEE6C8}"/>
              </a:ext>
            </a:extLst>
          </p:cNvPr>
          <p:cNvSpPr txBox="1">
            <a:spLocks/>
          </p:cNvSpPr>
          <p:nvPr/>
        </p:nvSpPr>
        <p:spPr>
          <a:xfrm>
            <a:off x="5866776" y="3592871"/>
            <a:ext cx="1393997" cy="64065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Federo"/>
              <a:buNone/>
              <a:defRPr sz="2400" b="0" i="0" u="none" strike="noStrike" cap="none">
                <a:solidFill>
                  <a:schemeClr val="dk1"/>
                </a:solidFill>
                <a:latin typeface="Federo"/>
                <a:ea typeface="Federo"/>
                <a:cs typeface="Federo"/>
                <a:sym typeface="Federo"/>
              </a:defRPr>
            </a:lvl1pPr>
            <a:lvl2pPr marR="0" lvl="1"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2pPr>
            <a:lvl3pPr marR="0" lvl="2"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3pPr>
            <a:lvl4pPr marR="0" lvl="3"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4pPr>
            <a:lvl5pPr marR="0" lvl="4"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5pPr>
            <a:lvl6pPr marR="0" lvl="5"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6pPr>
            <a:lvl7pPr marR="0" lvl="6"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7pPr>
            <a:lvl8pPr marR="0" lvl="7"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8pPr>
            <a:lvl9pPr marR="0" lvl="8" algn="l" rtl="0">
              <a:lnSpc>
                <a:spcPct val="100000"/>
              </a:lnSpc>
              <a:spcBef>
                <a:spcPts val="0"/>
              </a:spcBef>
              <a:spcAft>
                <a:spcPts val="0"/>
              </a:spcAft>
              <a:buClr>
                <a:schemeClr val="dk1"/>
              </a:buClr>
              <a:buSzPts val="2800"/>
              <a:buFont typeface="Patrick Hand"/>
              <a:buNone/>
              <a:defRPr sz="2800" b="0" i="0" u="none" strike="noStrike" cap="none">
                <a:solidFill>
                  <a:schemeClr val="dk1"/>
                </a:solidFill>
                <a:latin typeface="Patrick Hand"/>
                <a:ea typeface="Patrick Hand"/>
                <a:cs typeface="Patrick Hand"/>
                <a:sym typeface="Patrick Hand"/>
              </a:defRPr>
            </a:lvl9pPr>
          </a:lstStyle>
          <a:p>
            <a:pPr algn="l"/>
            <a:r>
              <a:rPr lang="en-IN" sz="1600" b="1" dirty="0">
                <a:latin typeface="+mj-lt"/>
                <a:sym typeface="Arial"/>
              </a:rPr>
              <a:t>Conclusion</a:t>
            </a:r>
            <a:endParaRPr lang="en-CA" sz="1600" b="1" dirty="0">
              <a:latin typeface="+mj-lt"/>
              <a:sym typeface="Arial"/>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ctrTitle"/>
          </p:nvPr>
        </p:nvSpPr>
        <p:spPr>
          <a:xfrm>
            <a:off x="2289975" y="837344"/>
            <a:ext cx="4564200" cy="1228200"/>
          </a:xfrm>
          <a:prstGeom prst="rect">
            <a:avLst/>
          </a:prstGeom>
        </p:spPr>
        <p:txBody>
          <a:bodyPr spcFirstLastPara="1" wrap="square" lIns="91425" tIns="91425" rIns="91425" bIns="91425" anchor="t" anchorCtr="0">
            <a:noAutofit/>
          </a:bodyPr>
          <a:lstStyle/>
          <a:p>
            <a:pPr lvl="0"/>
            <a:r>
              <a:rPr lang="en-IN" sz="3200" dirty="0">
                <a:latin typeface="Cooper Black" panose="0208090404030B020404" pitchFamily="18" charset="0"/>
              </a:rPr>
              <a:t>PROJECT </a:t>
            </a:r>
            <a:r>
              <a:rPr lang="en-IN" sz="3200" dirty="0">
                <a:solidFill>
                  <a:srgbClr val="FFC000"/>
                </a:solidFill>
                <a:latin typeface="Cooper Black" panose="0208090404030B020404" pitchFamily="18" charset="0"/>
              </a:rPr>
              <a:t>SUMMARY</a:t>
            </a:r>
          </a:p>
        </p:txBody>
      </p:sp>
      <p:sp>
        <p:nvSpPr>
          <p:cNvPr id="247" name="Google Shape;247;p38"/>
          <p:cNvSpPr txBox="1">
            <a:spLocks noGrp="1"/>
          </p:cNvSpPr>
          <p:nvPr>
            <p:ph type="subTitle" idx="1"/>
          </p:nvPr>
        </p:nvSpPr>
        <p:spPr>
          <a:xfrm>
            <a:off x="1285875" y="2167766"/>
            <a:ext cx="6665119" cy="2182993"/>
          </a:xfrm>
          <a:prstGeom prst="rect">
            <a:avLst/>
          </a:prstGeom>
        </p:spPr>
        <p:txBody>
          <a:bodyPr spcFirstLastPara="1" wrap="square" lIns="91425" tIns="91425" rIns="91425" bIns="91425" anchor="t" anchorCtr="0">
            <a:noAutofit/>
          </a:bodyPr>
          <a:lstStyle/>
          <a:p>
            <a:pPr marL="285750" lvl="0" indent="-285750" algn="l">
              <a:buFontTx/>
              <a:buChar char="-"/>
            </a:pPr>
            <a:r>
              <a:rPr lang="en-US" dirty="0"/>
              <a:t>To evaluate </a:t>
            </a:r>
            <a:r>
              <a:rPr lang="en-US" b="1" dirty="0"/>
              <a:t>City Hotel </a:t>
            </a:r>
            <a:r>
              <a:rPr lang="en-US" dirty="0"/>
              <a:t>and </a:t>
            </a:r>
            <a:r>
              <a:rPr lang="en-US" b="1" dirty="0"/>
              <a:t>Resort Hotel's </a:t>
            </a:r>
            <a:r>
              <a:rPr lang="en-US" dirty="0"/>
              <a:t>business performance from </a:t>
            </a:r>
            <a:r>
              <a:rPr lang="en-US" b="1" dirty="0"/>
              <a:t>2015 to 2017</a:t>
            </a:r>
            <a:r>
              <a:rPr lang="en-US" dirty="0"/>
              <a:t> to conduct an in-depth study of them.</a:t>
            </a:r>
          </a:p>
          <a:p>
            <a:pPr marL="285750" lvl="0" indent="-285750" algn="l">
              <a:buFontTx/>
              <a:buChar char="-"/>
            </a:pPr>
            <a:r>
              <a:rPr lang="en-US" dirty="0"/>
              <a:t>This Analysis data includes booking ID's, ADR , cancellations, lead time and guest details.</a:t>
            </a:r>
          </a:p>
          <a:p>
            <a:pPr marL="0" lvl="0" indent="0" algn="l"/>
            <a:r>
              <a:rPr lang="en-US" dirty="0"/>
              <a:t>-      This process involve cleaning, wrangling and visualizing the data set to identify business insights and improve operations. </a:t>
            </a:r>
            <a:endParaRPr dirty="0"/>
          </a:p>
        </p:txBody>
      </p:sp>
      <p:sp>
        <p:nvSpPr>
          <p:cNvPr id="248" name="Google Shape;248;p38"/>
          <p:cNvSpPr/>
          <p:nvPr/>
        </p:nvSpPr>
        <p:spPr>
          <a:xfrm>
            <a:off x="4458150" y="500725"/>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8"/>
          <p:cNvSpPr/>
          <p:nvPr/>
        </p:nvSpPr>
        <p:spPr>
          <a:xfrm>
            <a:off x="4458150" y="4375675"/>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ctrTitle"/>
          </p:nvPr>
        </p:nvSpPr>
        <p:spPr>
          <a:xfrm>
            <a:off x="2289975" y="837344"/>
            <a:ext cx="4564200" cy="1228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3200" dirty="0">
                <a:latin typeface="Cooper Black" panose="0208090404030B020404" pitchFamily="18" charset="0"/>
              </a:rPr>
              <a:t>PROBLEM</a:t>
            </a:r>
            <a:r>
              <a:rPr lang="en" sz="4000" dirty="0"/>
              <a:t> </a:t>
            </a:r>
            <a:br>
              <a:rPr lang="en" sz="4000" dirty="0"/>
            </a:br>
            <a:r>
              <a:rPr lang="en" sz="3200" dirty="0">
                <a:solidFill>
                  <a:srgbClr val="FFC000"/>
                </a:solidFill>
                <a:latin typeface="Cooper Black" panose="0208090404030B020404" pitchFamily="18" charset="0"/>
              </a:rPr>
              <a:t>STATEMENT</a:t>
            </a:r>
            <a:endParaRPr sz="3200" dirty="0">
              <a:solidFill>
                <a:srgbClr val="FFC000"/>
              </a:solidFill>
              <a:latin typeface="Cooper Black" panose="0208090404030B020404" pitchFamily="18" charset="0"/>
            </a:endParaRPr>
          </a:p>
        </p:txBody>
      </p:sp>
      <p:sp>
        <p:nvSpPr>
          <p:cNvPr id="247" name="Google Shape;247;p38"/>
          <p:cNvSpPr txBox="1">
            <a:spLocks noGrp="1"/>
          </p:cNvSpPr>
          <p:nvPr>
            <p:ph type="subTitle" idx="1"/>
          </p:nvPr>
        </p:nvSpPr>
        <p:spPr>
          <a:xfrm>
            <a:off x="964406" y="2174464"/>
            <a:ext cx="7465219" cy="2131692"/>
          </a:xfrm>
          <a:prstGeom prst="rect">
            <a:avLst/>
          </a:prstGeom>
          <a:noFill/>
          <a:ln>
            <a:noFill/>
          </a:ln>
        </p:spPr>
        <p:txBody>
          <a:bodyPr spcFirstLastPara="1" wrap="square" lIns="91425" tIns="91425" rIns="91425" bIns="91425" anchor="t" anchorCtr="0">
            <a:noAutofit/>
          </a:bodyPr>
          <a:lstStyle/>
          <a:p>
            <a:pPr marL="285750" indent="-285750" algn="l">
              <a:buFontTx/>
              <a:buChar char="-"/>
            </a:pPr>
            <a:r>
              <a:rPr lang="en-US" dirty="0"/>
              <a:t>The dataset contains of booking information for city hotel and resort hotel, including the booking date, number of adults, children and babies, available parking spaces, booking agent, and other relevant information. This project examines and analyzes the data to determine important factors affecting bookings. </a:t>
            </a:r>
          </a:p>
          <a:p>
            <a:pPr marL="285750" indent="-285750" algn="l">
              <a:buFontTx/>
              <a:buChar char="-"/>
            </a:pPr>
            <a:r>
              <a:rPr lang="en-US" dirty="0"/>
              <a:t>The main objective is to identify factors that impact hotel booking and ADR to improve business outcomes and guest experience.</a:t>
            </a:r>
          </a:p>
        </p:txBody>
      </p:sp>
      <p:sp>
        <p:nvSpPr>
          <p:cNvPr id="248" name="Google Shape;248;p38"/>
          <p:cNvSpPr/>
          <p:nvPr/>
        </p:nvSpPr>
        <p:spPr>
          <a:xfrm>
            <a:off x="4458150" y="500725"/>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8"/>
          <p:cNvSpPr/>
          <p:nvPr/>
        </p:nvSpPr>
        <p:spPr>
          <a:xfrm>
            <a:off x="4458150" y="4375675"/>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500527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8"/>
        <p:cNvGrpSpPr/>
        <p:nvPr/>
      </p:nvGrpSpPr>
      <p:grpSpPr>
        <a:xfrm>
          <a:off x="0" y="0"/>
          <a:ext cx="0" cy="0"/>
          <a:chOff x="0" y="0"/>
          <a:chExt cx="0" cy="0"/>
        </a:xfrm>
      </p:grpSpPr>
      <p:sp>
        <p:nvSpPr>
          <p:cNvPr id="350" name="Google Shape;350;p46"/>
          <p:cNvSpPr txBox="1">
            <a:spLocks noGrp="1"/>
          </p:cNvSpPr>
          <p:nvPr>
            <p:ph type="ctrTitle"/>
          </p:nvPr>
        </p:nvSpPr>
        <p:spPr>
          <a:xfrm>
            <a:off x="2528850" y="592900"/>
            <a:ext cx="3858900" cy="1228200"/>
          </a:xfrm>
          <a:prstGeom prst="rect">
            <a:avLst/>
          </a:prstGeom>
          <a:noFill/>
          <a:ln>
            <a:noFill/>
          </a:ln>
        </p:spPr>
        <p:txBody>
          <a:bodyPr spcFirstLastPara="1" wrap="square" lIns="91425" tIns="91425" rIns="91425" bIns="91425" anchor="t" anchorCtr="0">
            <a:noAutofit/>
          </a:bodyPr>
          <a:lstStyle/>
          <a:p>
            <a:r>
              <a:rPr lang="en" sz="3200" dirty="0">
                <a:latin typeface="Cooper Black" panose="0208090404030B020404" pitchFamily="18" charset="0"/>
              </a:rPr>
              <a:t>EXPECTED </a:t>
            </a:r>
            <a:br>
              <a:rPr lang="en" sz="3200" dirty="0">
                <a:latin typeface="Cooper Black" panose="0208090404030B020404" pitchFamily="18" charset="0"/>
              </a:rPr>
            </a:br>
            <a:r>
              <a:rPr lang="en" sz="3200" dirty="0">
                <a:solidFill>
                  <a:srgbClr val="FFC000"/>
                </a:solidFill>
                <a:latin typeface="Cooper Black" panose="0208090404030B020404" pitchFamily="18" charset="0"/>
              </a:rPr>
              <a:t>OUTCOMES</a:t>
            </a:r>
            <a:endParaRPr sz="3200" dirty="0">
              <a:solidFill>
                <a:srgbClr val="FFC000"/>
              </a:solidFill>
              <a:latin typeface="Cooper Black" panose="0208090404030B020404" pitchFamily="18" charset="0"/>
            </a:endParaRPr>
          </a:p>
        </p:txBody>
      </p:sp>
      <p:sp>
        <p:nvSpPr>
          <p:cNvPr id="354" name="Google Shape;354;p46"/>
          <p:cNvSpPr txBox="1">
            <a:spLocks noGrp="1"/>
          </p:cNvSpPr>
          <p:nvPr>
            <p:ph type="title" idx="4"/>
          </p:nvPr>
        </p:nvSpPr>
        <p:spPr>
          <a:xfrm>
            <a:off x="4844605" y="2999268"/>
            <a:ext cx="3541089" cy="1228200"/>
          </a:xfrm>
          <a:prstGeom prst="rect">
            <a:avLst/>
          </a:prstGeom>
        </p:spPr>
        <p:txBody>
          <a:bodyPr spcFirstLastPara="1" wrap="square" lIns="91425" tIns="91425" rIns="91425" bIns="91425" anchor="b" anchorCtr="0">
            <a:noAutofit/>
          </a:bodyPr>
          <a:lstStyle/>
          <a:p>
            <a:pPr lvl="0"/>
            <a:r>
              <a:rPr lang="en-CA" sz="1600" dirty="0">
                <a:latin typeface="Crimson Pro" panose="020B0604020202020204" charset="0"/>
              </a:rPr>
              <a:t>- Improved Decision-Making</a:t>
            </a:r>
            <a:br>
              <a:rPr lang="en-CA" sz="1600" dirty="0">
                <a:latin typeface="Crimson Pro" panose="020B0604020202020204" charset="0"/>
              </a:rPr>
            </a:br>
            <a:br>
              <a:rPr lang="en-CA" sz="1600" dirty="0">
                <a:latin typeface="Crimson Pro" panose="020B0604020202020204" charset="0"/>
              </a:rPr>
            </a:br>
            <a:r>
              <a:rPr lang="en-CA" sz="1600" dirty="0">
                <a:latin typeface="Crimson Pro" panose="020B0604020202020204" charset="0"/>
              </a:rPr>
              <a:t>- Decreased Cancellations</a:t>
            </a:r>
            <a:br>
              <a:rPr lang="en-CA" sz="1600" dirty="0">
                <a:latin typeface="Crimson Pro" panose="020B0604020202020204" charset="0"/>
              </a:rPr>
            </a:br>
            <a:br>
              <a:rPr lang="en-CA" sz="1600" dirty="0">
                <a:latin typeface="Crimson Pro" panose="020B0604020202020204" charset="0"/>
              </a:rPr>
            </a:br>
            <a:r>
              <a:rPr lang="en-CA" sz="1600" dirty="0">
                <a:latin typeface="Crimson Pro" panose="020B0604020202020204" charset="0"/>
              </a:rPr>
              <a:t>- Enhanced Profit Margins</a:t>
            </a:r>
            <a:br>
              <a:rPr lang="en-CA" sz="1600" dirty="0">
                <a:latin typeface="Crimson Pro" panose="020B0604020202020204" charset="0"/>
              </a:rPr>
            </a:br>
            <a:br>
              <a:rPr lang="en-CA" sz="1600" dirty="0">
                <a:latin typeface="Crimson Pro" panose="020B0604020202020204" charset="0"/>
              </a:rPr>
            </a:br>
            <a:r>
              <a:rPr lang="en-CA" sz="1600" dirty="0">
                <a:latin typeface="Crimson Pro" panose="020B0604020202020204" charset="0"/>
              </a:rPr>
              <a:t>- Long-Term Strategy</a:t>
            </a:r>
            <a:br>
              <a:rPr lang="en-CA" sz="1600" dirty="0">
                <a:latin typeface="Crimson Pro" panose="020B0604020202020204" charset="0"/>
              </a:rPr>
            </a:br>
            <a:br>
              <a:rPr lang="en-CA" sz="1600" dirty="0">
                <a:latin typeface="Crimson Pro" panose="020B0604020202020204" charset="0"/>
              </a:rPr>
            </a:br>
            <a:r>
              <a:rPr lang="en-CA" sz="1600" dirty="0">
                <a:latin typeface="Crimson Pro" panose="020B0604020202020204" charset="0"/>
              </a:rPr>
              <a:t>- Stay Competitive</a:t>
            </a:r>
            <a:endParaRPr sz="1600" dirty="0">
              <a:latin typeface="Crimson Pro" panose="020B0604020202020204" charset="0"/>
            </a:endParaRPr>
          </a:p>
        </p:txBody>
      </p:sp>
      <p:sp>
        <p:nvSpPr>
          <p:cNvPr id="355" name="Google Shape;355;p46"/>
          <p:cNvSpPr/>
          <p:nvPr/>
        </p:nvSpPr>
        <p:spPr>
          <a:xfrm>
            <a:off x="6387750" y="1593400"/>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6"/>
          <p:cNvSpPr/>
          <p:nvPr/>
        </p:nvSpPr>
        <p:spPr>
          <a:xfrm>
            <a:off x="6387750" y="4425725"/>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9AFEB197-C887-E778-036D-DFE00C9C468C}"/>
              </a:ext>
            </a:extLst>
          </p:cNvPr>
          <p:cNvPicPr>
            <a:picLocks noChangeAspect="1"/>
          </p:cNvPicPr>
          <p:nvPr/>
        </p:nvPicPr>
        <p:blipFill>
          <a:blip r:embed="rId4"/>
          <a:srcRect r="40847"/>
          <a:stretch>
            <a:fillRect/>
          </a:stretch>
        </p:blipFill>
        <p:spPr>
          <a:xfrm>
            <a:off x="1041111" y="1689265"/>
            <a:ext cx="2977824" cy="3126084"/>
          </a:xfrm>
          <a:prstGeom prst="ellipse">
            <a:avLst/>
          </a:prstGeom>
          <a:ln>
            <a:noFill/>
          </a:ln>
          <a:effectLst>
            <a:softEdge rad="112500"/>
          </a:effectLst>
        </p:spPr>
      </p:pic>
    </p:spTree>
    <p:extLst>
      <p:ext uri="{BB962C8B-B14F-4D97-AF65-F5344CB8AC3E}">
        <p14:creationId xmlns:p14="http://schemas.microsoft.com/office/powerpoint/2010/main" val="1500552264"/>
      </p:ext>
    </p:extLst>
  </p:cSld>
  <p:clrMapOvr>
    <a:overrideClrMapping bg1="lt1" tx1="dk1" bg2="dk2" tx2="lt2" accent1="accent1" accent2="accent2" accent3="accent3" accent4="accent4" accent5="accent5" accent6="accent6" hlink="hlink" folHlink="folHlink"/>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442332" y="2322119"/>
            <a:ext cx="8259336" cy="128610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600" b="1" dirty="0">
                <a:solidFill>
                  <a:schemeClr val="tx1">
                    <a:lumMod val="75000"/>
                    <a:lumOff val="25000"/>
                  </a:schemeClr>
                </a:solidFill>
                <a:latin typeface="Crimson Pro" panose="020B0604020202020204" charset="0"/>
                <a:ea typeface="Federo"/>
                <a:cs typeface="Federo"/>
                <a:sym typeface="Federo"/>
              </a:rPr>
              <a:t>Booking Information:</a:t>
            </a:r>
            <a:endParaRPr lang="en-CA" sz="1600" dirty="0">
              <a:solidFill>
                <a:schemeClr val="tx1">
                  <a:lumMod val="75000"/>
                  <a:lumOff val="25000"/>
                </a:schemeClr>
              </a:solidFill>
              <a:latin typeface="Crimson Pro" panose="020B0604020202020204" charset="0"/>
            </a:endParaRP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Hotel Type: </a:t>
            </a:r>
            <a:r>
              <a:rPr lang="en-US" sz="1600" dirty="0">
                <a:solidFill>
                  <a:schemeClr val="hlink"/>
                </a:solidFill>
                <a:uFill>
                  <a:noFill/>
                </a:uFill>
                <a:latin typeface="Crimson Pro" panose="020B0604020202020204" charset="0"/>
              </a:rPr>
              <a:t>Resort Hotel or City Hotel</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Cancellation Status:</a:t>
            </a:r>
            <a:r>
              <a:rPr lang="en-US" sz="1600" dirty="0">
                <a:solidFill>
                  <a:schemeClr val="hlink"/>
                </a:solidFill>
                <a:uFill>
                  <a:noFill/>
                </a:uFill>
                <a:latin typeface="Crimson Pro" panose="020B0604020202020204" charset="0"/>
              </a:rPr>
              <a:t> Booked (0) or Cancelled (1) </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Lead Time: </a:t>
            </a:r>
            <a:r>
              <a:rPr lang="en-US" sz="1600" dirty="0">
                <a:solidFill>
                  <a:schemeClr val="hlink"/>
                </a:solidFill>
                <a:uFill>
                  <a:noFill/>
                </a:uFill>
                <a:latin typeface="Crimson Pro" panose="020B0604020202020204" charset="0"/>
              </a:rPr>
              <a:t>Number of days between booking and arrival </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Arrival Details: </a:t>
            </a:r>
            <a:r>
              <a:rPr lang="en-US" sz="1600" dirty="0">
                <a:solidFill>
                  <a:schemeClr val="hlink"/>
                </a:solidFill>
                <a:uFill>
                  <a:noFill/>
                </a:uFill>
                <a:latin typeface="Crimson Pro" panose="020B0604020202020204" charset="0"/>
              </a:rPr>
              <a:t>Year, Month, Week Number </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Duration of Stay: </a:t>
            </a:r>
            <a:r>
              <a:rPr lang="en-US" sz="1600" dirty="0">
                <a:solidFill>
                  <a:schemeClr val="hlink"/>
                </a:solidFill>
                <a:uFill>
                  <a:noFill/>
                </a:uFill>
                <a:latin typeface="Crimson Pro" panose="020B0604020202020204" charset="0"/>
              </a:rPr>
              <a:t>Stay in weekend nights, Stay in weekdays nights</a:t>
            </a:r>
          </a:p>
          <a:p>
            <a:pPr marL="152400" lvl="0" indent="0" algn="l" rtl="0">
              <a:spcBef>
                <a:spcPts val="0"/>
              </a:spcBef>
              <a:spcAft>
                <a:spcPts val="0"/>
              </a:spcAft>
              <a:buClr>
                <a:schemeClr val="dk1"/>
              </a:buClr>
              <a:buSzPts val="1200"/>
              <a:buNone/>
            </a:pPr>
            <a:endParaRPr lang="en-US" sz="1600" dirty="0">
              <a:solidFill>
                <a:schemeClr val="hlink"/>
              </a:solidFill>
              <a:uFill>
                <a:noFill/>
              </a:uFill>
              <a:latin typeface="Crimson Pro" panose="020B0604020202020204" charset="0"/>
            </a:endParaRPr>
          </a:p>
          <a:p>
            <a:pPr marL="0" indent="0">
              <a:buNone/>
            </a:pPr>
            <a:r>
              <a:rPr lang="en-US" sz="1600" b="1" dirty="0">
                <a:solidFill>
                  <a:schemeClr val="tx1">
                    <a:lumMod val="75000"/>
                    <a:lumOff val="25000"/>
                  </a:schemeClr>
                </a:solidFill>
                <a:latin typeface="Crimson Pro" panose="020B0604020202020204" charset="0"/>
              </a:rPr>
              <a:t>Guest Details:</a:t>
            </a:r>
            <a:endParaRPr lang="en-US" sz="1600" b="1" dirty="0">
              <a:solidFill>
                <a:schemeClr val="tx1">
                  <a:lumMod val="75000"/>
                  <a:lumOff val="25000"/>
                </a:schemeClr>
              </a:solidFill>
              <a:uFill>
                <a:noFill/>
              </a:uFill>
              <a:latin typeface="Crimson Pro" panose="020B0604020202020204" charset="0"/>
            </a:endParaRP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Guest Breakdown: </a:t>
            </a:r>
            <a:r>
              <a:rPr lang="en-US" sz="1600" dirty="0">
                <a:solidFill>
                  <a:schemeClr val="hlink"/>
                </a:solidFill>
                <a:uFill>
                  <a:noFill/>
                </a:uFill>
                <a:latin typeface="Crimson Pro" panose="020B0604020202020204" charset="0"/>
              </a:rPr>
              <a:t>Adults, Children's  and Babies </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Country of Residence: </a:t>
            </a:r>
            <a:r>
              <a:rPr lang="en-US" sz="1600" dirty="0">
                <a:solidFill>
                  <a:schemeClr val="hlink"/>
                </a:solidFill>
                <a:uFill>
                  <a:noFill/>
                </a:uFill>
                <a:latin typeface="Crimson Pro" panose="020B0604020202020204" charset="0"/>
              </a:rPr>
              <a:t>Guest's native land </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Repeated Guest: </a:t>
            </a:r>
            <a:r>
              <a:rPr lang="en-US" sz="1600" dirty="0">
                <a:solidFill>
                  <a:schemeClr val="hlink"/>
                </a:solidFill>
                <a:uFill>
                  <a:noFill/>
                </a:uFill>
                <a:latin typeface="Crimson Pro" panose="020B0604020202020204" charset="0"/>
              </a:rPr>
              <a:t>Yes (1) or No (0) </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Meal Choice: </a:t>
            </a:r>
            <a:r>
              <a:rPr lang="en-US" sz="1600" dirty="0">
                <a:solidFill>
                  <a:schemeClr val="hlink"/>
                </a:solidFill>
                <a:uFill>
                  <a:noFill/>
                </a:uFill>
                <a:latin typeface="Crimson Pro" panose="020B0604020202020204" charset="0"/>
              </a:rPr>
              <a:t>Meal type reserved</a:t>
            </a:r>
          </a:p>
        </p:txBody>
      </p:sp>
      <p:sp>
        <p:nvSpPr>
          <p:cNvPr id="908" name="Google Shape;908;p66"/>
          <p:cNvSpPr txBox="1">
            <a:spLocks noGrp="1"/>
          </p:cNvSpPr>
          <p:nvPr>
            <p:ph type="ctrTitle"/>
          </p:nvPr>
        </p:nvSpPr>
        <p:spPr>
          <a:xfrm>
            <a:off x="2580375" y="307074"/>
            <a:ext cx="3983400" cy="1228200"/>
          </a:xfrm>
          <a:prstGeom prst="rect">
            <a:avLst/>
          </a:prstGeom>
          <a:noFill/>
          <a:ln>
            <a:noFill/>
          </a:ln>
        </p:spPr>
        <p:txBody>
          <a:bodyPr spcFirstLastPara="1" wrap="square" lIns="91425" tIns="91425" rIns="91425" bIns="91425" anchor="t" anchorCtr="0">
            <a:noAutofit/>
          </a:bodyPr>
          <a:lstStyle/>
          <a:p>
            <a:r>
              <a:rPr lang="en" sz="3200" dirty="0">
                <a:latin typeface="Cooper Black" panose="0208090404030B020404" pitchFamily="18" charset="0"/>
              </a:rPr>
              <a:t>ABOUT</a:t>
            </a:r>
            <a:br>
              <a:rPr lang="en" sz="3200" dirty="0">
                <a:latin typeface="Cooper Black" panose="0208090404030B020404" pitchFamily="18" charset="0"/>
              </a:rPr>
            </a:br>
            <a:r>
              <a:rPr lang="en" sz="3200" dirty="0">
                <a:solidFill>
                  <a:srgbClr val="FFC000"/>
                </a:solidFill>
                <a:latin typeface="Cooper Black" panose="0208090404030B020404" pitchFamily="18" charset="0"/>
              </a:rPr>
              <a:t>DATA</a:t>
            </a:r>
            <a:endParaRPr sz="3200" dirty="0">
              <a:solidFill>
                <a:srgbClr val="FFC000"/>
              </a:solidFill>
              <a:latin typeface="Cooper Black" panose="0208090404030B020404" pitchFamily="18" charset="0"/>
            </a:endParaRPr>
          </a:p>
        </p:txBody>
      </p:sp>
      <p:pic>
        <p:nvPicPr>
          <p:cNvPr id="3" name="Picture 2">
            <a:extLst>
              <a:ext uri="{FF2B5EF4-FFF2-40B4-BE49-F238E27FC236}">
                <a16:creationId xmlns:a16="http://schemas.microsoft.com/office/drawing/2014/main" id="{FD91AEC5-6217-6F8B-8420-54102727EA1F}"/>
              </a:ext>
            </a:extLst>
          </p:cNvPr>
          <p:cNvPicPr>
            <a:picLocks noChangeAspect="1"/>
          </p:cNvPicPr>
          <p:nvPr/>
        </p:nvPicPr>
        <p:blipFill>
          <a:blip r:embed="rId3"/>
          <a:srcRect l="-2289" r="37404" b="17639"/>
          <a:stretch>
            <a:fillRect/>
          </a:stretch>
        </p:blipFill>
        <p:spPr>
          <a:xfrm>
            <a:off x="6357936" y="728770"/>
            <a:ext cx="2614613" cy="4236244"/>
          </a:xfrm>
          <a:prstGeom prst="ellipse">
            <a:avLst/>
          </a:prstGeom>
          <a:ln>
            <a:noFill/>
          </a:ln>
          <a:effectLst>
            <a:softEdge rad="112500"/>
          </a:effectLst>
        </p:spPr>
      </p:pic>
    </p:spTree>
    <p:extLst>
      <p:ext uri="{BB962C8B-B14F-4D97-AF65-F5344CB8AC3E}">
        <p14:creationId xmlns:p14="http://schemas.microsoft.com/office/powerpoint/2010/main" val="127414700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442332" y="1913828"/>
            <a:ext cx="8259336" cy="128610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600" b="1" dirty="0">
                <a:solidFill>
                  <a:schemeClr val="tx1">
                    <a:lumMod val="75000"/>
                    <a:lumOff val="25000"/>
                  </a:schemeClr>
                </a:solidFill>
                <a:latin typeface="Crimson Pro" panose="020B0604020202020204" charset="0"/>
                <a:ea typeface="Federo"/>
                <a:cs typeface="Federo"/>
                <a:sym typeface="Federo"/>
              </a:rPr>
              <a:t>Booking History:</a:t>
            </a:r>
            <a:endParaRPr lang="en-US" sz="1600" b="1" dirty="0">
              <a:solidFill>
                <a:schemeClr val="hlink"/>
              </a:solidFill>
              <a:uFill>
                <a:noFill/>
              </a:uFill>
              <a:latin typeface="Crimson Pro" panose="020B0604020202020204" charset="0"/>
            </a:endParaRP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Previous Cancellations: </a:t>
            </a:r>
            <a:r>
              <a:rPr lang="en-US" sz="1600" dirty="0">
                <a:solidFill>
                  <a:schemeClr val="hlink"/>
                </a:solidFill>
                <a:uFill>
                  <a:noFill/>
                </a:uFill>
                <a:latin typeface="Crimson Pro" panose="020B0604020202020204" charset="0"/>
              </a:rPr>
              <a:t>Number of past cancellations</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Number of confirmed bookings: </a:t>
            </a:r>
            <a:r>
              <a:rPr lang="en-US" sz="1600" dirty="0">
                <a:solidFill>
                  <a:schemeClr val="hlink"/>
                </a:solidFill>
                <a:uFill>
                  <a:noFill/>
                </a:uFill>
                <a:latin typeface="Crimson Pro" panose="020B0604020202020204" charset="0"/>
              </a:rPr>
              <a:t>Number of past non-cancelled bookings </a:t>
            </a:r>
          </a:p>
          <a:p>
            <a:pPr marL="152400" lvl="0" indent="0" algn="l" rtl="0">
              <a:spcBef>
                <a:spcPts val="0"/>
              </a:spcBef>
              <a:spcAft>
                <a:spcPts val="0"/>
              </a:spcAft>
              <a:buClr>
                <a:schemeClr val="dk1"/>
              </a:buClr>
              <a:buSzPts val="1200"/>
              <a:buNone/>
            </a:pPr>
            <a:endParaRPr lang="en-US" sz="1600" b="1" dirty="0">
              <a:solidFill>
                <a:schemeClr val="hlink"/>
              </a:solidFill>
              <a:uFill>
                <a:noFill/>
              </a:uFill>
              <a:latin typeface="Crimson Pro" panose="020B0604020202020204" charset="0"/>
            </a:endParaRPr>
          </a:p>
          <a:p>
            <a:pPr marL="152400" lvl="0" indent="0" algn="l" rtl="0">
              <a:spcBef>
                <a:spcPts val="0"/>
              </a:spcBef>
              <a:spcAft>
                <a:spcPts val="0"/>
              </a:spcAft>
              <a:buClr>
                <a:schemeClr val="dk1"/>
              </a:buClr>
              <a:buSzPts val="1200"/>
              <a:buNone/>
            </a:pPr>
            <a:endParaRPr lang="en-US" sz="1600" dirty="0">
              <a:solidFill>
                <a:schemeClr val="hlink"/>
              </a:solidFill>
              <a:uFill>
                <a:noFill/>
              </a:uFill>
              <a:latin typeface="Crimson Pro" panose="020B0604020202020204" charset="0"/>
            </a:endParaRPr>
          </a:p>
          <a:p>
            <a:pPr marL="0" indent="0">
              <a:buNone/>
            </a:pPr>
            <a:r>
              <a:rPr lang="en-US" sz="1600" b="1" dirty="0">
                <a:solidFill>
                  <a:schemeClr val="tx1">
                    <a:lumMod val="75000"/>
                    <a:lumOff val="25000"/>
                  </a:schemeClr>
                </a:solidFill>
                <a:latin typeface="Crimson Pro" panose="020B0604020202020204" charset="0"/>
              </a:rPr>
              <a:t>Room Information:</a:t>
            </a:r>
            <a:endParaRPr lang="en-US" sz="1600" b="1" dirty="0">
              <a:solidFill>
                <a:schemeClr val="hlink"/>
              </a:solidFill>
              <a:uFill>
                <a:noFill/>
              </a:uFill>
              <a:latin typeface="Crimson Pro" panose="020B0604020202020204" charset="0"/>
            </a:endParaRP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Type of Room Reserved: </a:t>
            </a:r>
            <a:r>
              <a:rPr lang="en-US" sz="1600" dirty="0">
                <a:solidFill>
                  <a:schemeClr val="hlink"/>
                </a:solidFill>
                <a:uFill>
                  <a:noFill/>
                </a:uFill>
                <a:latin typeface="Crimson Pro" panose="020B0604020202020204" charset="0"/>
              </a:rPr>
              <a:t>Code for the room type that was reserved</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Type of Room Assigned: </a:t>
            </a:r>
            <a:r>
              <a:rPr lang="en-US" sz="1600" dirty="0">
                <a:solidFill>
                  <a:schemeClr val="hlink"/>
                </a:solidFill>
                <a:uFill>
                  <a:noFill/>
                </a:uFill>
                <a:latin typeface="Crimson Pro" panose="020B0604020202020204" charset="0"/>
              </a:rPr>
              <a:t>Code for the room type that was assigned</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Changes to Booking: </a:t>
            </a:r>
            <a:r>
              <a:rPr lang="en-US" sz="1600" dirty="0">
                <a:solidFill>
                  <a:schemeClr val="hlink"/>
                </a:solidFill>
                <a:uFill>
                  <a:noFill/>
                </a:uFill>
                <a:latin typeface="Crimson Pro" panose="020B0604020202020204" charset="0"/>
              </a:rPr>
              <a:t>Total number of modifications made to the reservation.</a:t>
            </a:r>
          </a:p>
        </p:txBody>
      </p:sp>
      <p:sp>
        <p:nvSpPr>
          <p:cNvPr id="908" name="Google Shape;908;p66"/>
          <p:cNvSpPr txBox="1">
            <a:spLocks noGrp="1"/>
          </p:cNvSpPr>
          <p:nvPr>
            <p:ph type="ctrTitle"/>
          </p:nvPr>
        </p:nvSpPr>
        <p:spPr>
          <a:xfrm>
            <a:off x="2580375" y="307074"/>
            <a:ext cx="3983400" cy="1228200"/>
          </a:xfrm>
          <a:prstGeom prst="rect">
            <a:avLst/>
          </a:prstGeom>
        </p:spPr>
        <p:txBody>
          <a:bodyPr spcFirstLastPara="1" wrap="square" lIns="91425" tIns="91425" rIns="91425" bIns="91425" anchor="t" anchorCtr="0">
            <a:noAutofit/>
          </a:bodyPr>
          <a:lstStyle/>
          <a:p>
            <a:pPr lvl="0"/>
            <a:r>
              <a:rPr lang="en" sz="2800" dirty="0">
                <a:latin typeface="Cooper Black" panose="0208090404030B020404" pitchFamily="18" charset="0"/>
              </a:rPr>
              <a:t>ABOUT</a:t>
            </a:r>
            <a:br>
              <a:rPr lang="en" sz="2800" dirty="0">
                <a:latin typeface="Cooper Black" panose="0208090404030B020404" pitchFamily="18" charset="0"/>
              </a:rPr>
            </a:br>
            <a:r>
              <a:rPr lang="en" sz="2800" dirty="0">
                <a:solidFill>
                  <a:srgbClr val="FFC000"/>
                </a:solidFill>
                <a:latin typeface="Cooper Black" panose="0208090404030B020404" pitchFamily="18" charset="0"/>
              </a:rPr>
              <a:t>DATA</a:t>
            </a:r>
            <a:endParaRPr dirty="0"/>
          </a:p>
        </p:txBody>
      </p:sp>
    </p:spTree>
    <p:extLst>
      <p:ext uri="{BB962C8B-B14F-4D97-AF65-F5344CB8AC3E}">
        <p14:creationId xmlns:p14="http://schemas.microsoft.com/office/powerpoint/2010/main" val="23135495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442332" y="2457450"/>
            <a:ext cx="8259336" cy="74248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600" b="1" dirty="0">
                <a:solidFill>
                  <a:schemeClr val="tx1">
                    <a:lumMod val="75000"/>
                    <a:lumOff val="25000"/>
                  </a:schemeClr>
                </a:solidFill>
                <a:latin typeface="Crimson Pro" panose="020B0604020202020204" charset="0"/>
                <a:ea typeface="Federo"/>
                <a:cs typeface="Federo"/>
                <a:sym typeface="Federo"/>
              </a:rPr>
              <a:t>Financials &amp; Extras:</a:t>
            </a:r>
            <a:endParaRPr lang="en-US" sz="1600" b="1" dirty="0">
              <a:solidFill>
                <a:schemeClr val="hlink"/>
              </a:solidFill>
              <a:uFill>
                <a:noFill/>
              </a:uFill>
              <a:latin typeface="Crimson Pro" panose="020B0604020202020204" charset="0"/>
            </a:endParaRP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Average Daily Rate (ADR): </a:t>
            </a:r>
            <a:r>
              <a:rPr lang="en-US" sz="1600" dirty="0">
                <a:solidFill>
                  <a:schemeClr val="hlink"/>
                </a:solidFill>
                <a:uFill>
                  <a:noFill/>
                </a:uFill>
                <a:latin typeface="Crimson Pro" panose="020B0604020202020204" charset="0"/>
              </a:rPr>
              <a:t>Calculated price per day</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Required Extras: </a:t>
            </a:r>
            <a:r>
              <a:rPr lang="en-US" sz="1600" dirty="0">
                <a:solidFill>
                  <a:schemeClr val="hlink"/>
                </a:solidFill>
                <a:uFill>
                  <a:noFill/>
                </a:uFill>
                <a:latin typeface="Crimson Pro" panose="020B0604020202020204" charset="0"/>
              </a:rPr>
              <a:t>Number of car parking spaces, specific requests</a:t>
            </a:r>
          </a:p>
          <a:p>
            <a:pPr marL="152400" lvl="0" indent="0" algn="l" rtl="0">
              <a:spcBef>
                <a:spcPts val="0"/>
              </a:spcBef>
              <a:spcAft>
                <a:spcPts val="0"/>
              </a:spcAft>
              <a:buClr>
                <a:schemeClr val="dk1"/>
              </a:buClr>
              <a:buSzPts val="1200"/>
              <a:buNone/>
            </a:pPr>
            <a:endParaRPr lang="en-US" sz="1600" dirty="0">
              <a:solidFill>
                <a:schemeClr val="tx1">
                  <a:lumMod val="75000"/>
                  <a:lumOff val="25000"/>
                </a:schemeClr>
              </a:solidFill>
              <a:uFill>
                <a:noFill/>
              </a:uFill>
              <a:latin typeface="Crimson Pro" panose="020B0604020202020204" charset="0"/>
            </a:endParaRPr>
          </a:p>
          <a:p>
            <a:pPr marL="0" indent="0">
              <a:buNone/>
            </a:pPr>
            <a:r>
              <a:rPr lang="en-US" sz="1600" b="1" dirty="0">
                <a:solidFill>
                  <a:schemeClr val="tx1">
                    <a:lumMod val="75000"/>
                    <a:lumOff val="25000"/>
                  </a:schemeClr>
                </a:solidFill>
                <a:latin typeface="Crimson Pro" panose="020B0604020202020204" charset="0"/>
              </a:rPr>
              <a:t>Booking Channels:</a:t>
            </a:r>
            <a:endParaRPr lang="en-US" sz="1600" b="1" dirty="0">
              <a:solidFill>
                <a:schemeClr val="hlink"/>
              </a:solidFill>
              <a:uFill>
                <a:noFill/>
              </a:uFill>
              <a:latin typeface="Crimson Pro" panose="020B0604020202020204" charset="0"/>
            </a:endParaRP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Market Segment: </a:t>
            </a:r>
            <a:r>
              <a:rPr lang="en-US" sz="1600" dirty="0">
                <a:solidFill>
                  <a:schemeClr val="hlink"/>
                </a:solidFill>
                <a:uFill>
                  <a:noFill/>
                </a:uFill>
                <a:latin typeface="Crimson Pro" panose="020B0604020202020204" charset="0"/>
              </a:rPr>
              <a:t>Classification based on booking trends</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Distribution Channel: </a:t>
            </a:r>
            <a:r>
              <a:rPr lang="en-US" sz="1600" dirty="0">
                <a:solidFill>
                  <a:schemeClr val="hlink"/>
                </a:solidFill>
                <a:uFill>
                  <a:noFill/>
                </a:uFill>
                <a:latin typeface="Crimson Pro" panose="020B0604020202020204" charset="0"/>
              </a:rPr>
              <a:t>Method of distributing bookings</a:t>
            </a:r>
          </a:p>
          <a:p>
            <a:pPr marL="457200" lvl="0" indent="-304800" algn="l" rtl="0">
              <a:spcBef>
                <a:spcPts val="0"/>
              </a:spcBef>
              <a:spcAft>
                <a:spcPts val="0"/>
              </a:spcAft>
              <a:buClr>
                <a:schemeClr val="dk1"/>
              </a:buClr>
              <a:buSzPts val="1200"/>
              <a:buFont typeface="Crimson Pro"/>
              <a:buChar char="●"/>
            </a:pPr>
            <a:r>
              <a:rPr lang="en-US" sz="1600" b="1" dirty="0">
                <a:solidFill>
                  <a:schemeClr val="hlink"/>
                </a:solidFill>
                <a:uFill>
                  <a:noFill/>
                </a:uFill>
                <a:latin typeface="Crimson Pro" panose="020B0604020202020204" charset="0"/>
              </a:rPr>
              <a:t>Agent: </a:t>
            </a:r>
            <a:r>
              <a:rPr lang="en-US" sz="1600" dirty="0">
                <a:solidFill>
                  <a:schemeClr val="hlink"/>
                </a:solidFill>
                <a:uFill>
                  <a:noFill/>
                </a:uFill>
                <a:latin typeface="Crimson Pro" panose="020B0604020202020204" charset="0"/>
              </a:rPr>
              <a:t>Unique identifier for booking agents</a:t>
            </a:r>
          </a:p>
          <a:p>
            <a:pPr marL="0" lvl="0" indent="0">
              <a:buNone/>
            </a:pPr>
            <a:r>
              <a:rPr lang="en-CA" sz="1600" b="1" dirty="0">
                <a:solidFill>
                  <a:schemeClr val="tx1">
                    <a:lumMod val="75000"/>
                    <a:lumOff val="25000"/>
                  </a:schemeClr>
                </a:solidFill>
                <a:latin typeface="Crimson Pro" panose="020B0604020202020204" charset="0"/>
                <a:ea typeface="Federo"/>
                <a:cs typeface="Federo"/>
                <a:sym typeface="Federo"/>
              </a:rPr>
              <a:t>Reservation Status:</a:t>
            </a:r>
            <a:endParaRPr lang="en-US" sz="1600" b="1" dirty="0">
              <a:solidFill>
                <a:schemeClr val="tx1">
                  <a:lumMod val="75000"/>
                  <a:lumOff val="25000"/>
                </a:schemeClr>
              </a:solidFill>
              <a:uFill>
                <a:noFill/>
              </a:uFill>
              <a:latin typeface="Crimson Pro" panose="020B0604020202020204" charset="0"/>
            </a:endParaRPr>
          </a:p>
          <a:p>
            <a:pPr lvl="0" indent="-304800">
              <a:buClr>
                <a:schemeClr val="dk1"/>
              </a:buClr>
              <a:buSzPts val="1200"/>
              <a:buFont typeface="Crimson Pro"/>
              <a:buChar char="●"/>
            </a:pPr>
            <a:r>
              <a:rPr lang="en-US" sz="1600" b="1" dirty="0">
                <a:solidFill>
                  <a:schemeClr val="hlink"/>
                </a:solidFill>
                <a:uFill>
                  <a:noFill/>
                </a:uFill>
                <a:latin typeface="Crimson Pro" panose="020B0604020202020204" charset="0"/>
              </a:rPr>
              <a:t>Current Reservation Status: </a:t>
            </a:r>
            <a:r>
              <a:rPr lang="en-US" sz="1600" dirty="0">
                <a:solidFill>
                  <a:schemeClr val="hlink"/>
                </a:solidFill>
                <a:uFill>
                  <a:noFill/>
                </a:uFill>
                <a:latin typeface="Crimson Pro" panose="020B0604020202020204" charset="0"/>
              </a:rPr>
              <a:t>Present booking status</a:t>
            </a:r>
          </a:p>
          <a:p>
            <a:pPr lvl="0" indent="-304800">
              <a:buClr>
                <a:schemeClr val="dk1"/>
              </a:buClr>
              <a:buSzPts val="1200"/>
              <a:buFont typeface="Crimson Pro"/>
              <a:buChar char="●"/>
            </a:pPr>
            <a:r>
              <a:rPr lang="en-US" sz="1600" b="1" dirty="0">
                <a:solidFill>
                  <a:schemeClr val="hlink"/>
                </a:solidFill>
                <a:uFill>
                  <a:noFill/>
                </a:uFill>
                <a:latin typeface="Crimson Pro" panose="020B0604020202020204" charset="0"/>
              </a:rPr>
              <a:t>Last Update of Reservation Status: </a:t>
            </a:r>
            <a:r>
              <a:rPr lang="en-US" sz="1600" dirty="0">
                <a:solidFill>
                  <a:schemeClr val="hlink"/>
                </a:solidFill>
                <a:uFill>
                  <a:noFill/>
                </a:uFill>
                <a:latin typeface="Crimson Pro" panose="020B0604020202020204" charset="0"/>
              </a:rPr>
              <a:t>Date of the most recent status change</a:t>
            </a:r>
          </a:p>
          <a:p>
            <a:pPr marL="152400" lvl="0" indent="0">
              <a:buClr>
                <a:schemeClr val="dk1"/>
              </a:buClr>
              <a:buSzPts val="1200"/>
              <a:buNone/>
            </a:pPr>
            <a:endParaRPr lang="en-US" sz="1600" dirty="0">
              <a:solidFill>
                <a:schemeClr val="hlink"/>
              </a:solidFill>
              <a:uFill>
                <a:noFill/>
              </a:uFill>
              <a:latin typeface="Crimson Pro" panose="020B0604020202020204" charset="0"/>
            </a:endParaRPr>
          </a:p>
          <a:p>
            <a:pPr marL="152400" lvl="0" indent="0" algn="l" rtl="0">
              <a:spcBef>
                <a:spcPts val="0"/>
              </a:spcBef>
              <a:spcAft>
                <a:spcPts val="0"/>
              </a:spcAft>
              <a:buClr>
                <a:schemeClr val="dk1"/>
              </a:buClr>
              <a:buSzPts val="1200"/>
              <a:buNone/>
            </a:pPr>
            <a:endParaRPr lang="en-US" sz="1600" dirty="0">
              <a:solidFill>
                <a:schemeClr val="hlink"/>
              </a:solidFill>
              <a:uFill>
                <a:noFill/>
              </a:uFill>
              <a:latin typeface="Crimson Pro" panose="020B0604020202020204" charset="0"/>
            </a:endParaRPr>
          </a:p>
        </p:txBody>
      </p:sp>
      <p:sp>
        <p:nvSpPr>
          <p:cNvPr id="908" name="Google Shape;908;p66"/>
          <p:cNvSpPr txBox="1">
            <a:spLocks noGrp="1"/>
          </p:cNvSpPr>
          <p:nvPr>
            <p:ph type="ctrTitle"/>
          </p:nvPr>
        </p:nvSpPr>
        <p:spPr>
          <a:xfrm>
            <a:off x="2416068" y="342793"/>
            <a:ext cx="3983400" cy="1228200"/>
          </a:xfrm>
          <a:prstGeom prst="rect">
            <a:avLst/>
          </a:prstGeom>
        </p:spPr>
        <p:txBody>
          <a:bodyPr spcFirstLastPara="1" wrap="square" lIns="91425" tIns="91425" rIns="91425" bIns="91425" anchor="t" anchorCtr="0">
            <a:noAutofit/>
          </a:bodyPr>
          <a:lstStyle/>
          <a:p>
            <a:pPr lvl="0"/>
            <a:r>
              <a:rPr lang="en" sz="2800" dirty="0">
                <a:latin typeface="Cooper Black" panose="0208090404030B020404" pitchFamily="18" charset="0"/>
              </a:rPr>
              <a:t>ABOUT</a:t>
            </a:r>
            <a:br>
              <a:rPr lang="en" sz="2800" dirty="0">
                <a:latin typeface="Cooper Black" panose="0208090404030B020404" pitchFamily="18" charset="0"/>
              </a:rPr>
            </a:br>
            <a:r>
              <a:rPr lang="en" sz="2800" dirty="0">
                <a:solidFill>
                  <a:srgbClr val="FFC000"/>
                </a:solidFill>
                <a:latin typeface="Cooper Black" panose="0208090404030B020404" pitchFamily="18" charset="0"/>
              </a:rPr>
              <a:t>DATA</a:t>
            </a:r>
            <a:endParaRPr dirty="0"/>
          </a:p>
        </p:txBody>
      </p:sp>
    </p:spTree>
    <p:extLst>
      <p:ext uri="{BB962C8B-B14F-4D97-AF65-F5344CB8AC3E}">
        <p14:creationId xmlns:p14="http://schemas.microsoft.com/office/powerpoint/2010/main" val="350830467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442332" y="1806499"/>
            <a:ext cx="8259336" cy="3029928"/>
          </a:xfrm>
          <a:prstGeom prst="rect">
            <a:avLst/>
          </a:prstGeom>
        </p:spPr>
        <p:txBody>
          <a:bodyPr spcFirstLastPara="1" wrap="square" lIns="91425" tIns="91425" rIns="91425" bIns="91425" anchor="ctr" anchorCtr="0">
            <a:noAutofit/>
          </a:bodyPr>
          <a:lstStyle/>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There were a total of  1,19,390 rows and 32 columns.</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Errors, Duplicate rows and Blank rows removed.</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Merged columns </a:t>
            </a:r>
            <a:r>
              <a:rPr lang="en-US" sz="1400" b="1" dirty="0">
                <a:solidFill>
                  <a:schemeClr val="hlink"/>
                </a:solidFill>
                <a:uFill>
                  <a:noFill/>
                </a:uFill>
              </a:rPr>
              <a:t>day, month</a:t>
            </a:r>
            <a:r>
              <a:rPr lang="en-US" sz="1400" dirty="0">
                <a:solidFill>
                  <a:schemeClr val="hlink"/>
                </a:solidFill>
                <a:uFill>
                  <a:noFill/>
                </a:uFill>
              </a:rPr>
              <a:t> and </a:t>
            </a:r>
            <a:r>
              <a:rPr lang="en-US" sz="1400" b="1" dirty="0">
                <a:solidFill>
                  <a:schemeClr val="hlink"/>
                </a:solidFill>
                <a:uFill>
                  <a:noFill/>
                </a:uFill>
              </a:rPr>
              <a:t>year</a:t>
            </a:r>
            <a:r>
              <a:rPr lang="en-US" sz="1400" dirty="0">
                <a:solidFill>
                  <a:schemeClr val="hlink"/>
                </a:solidFill>
                <a:uFill>
                  <a:noFill/>
                </a:uFill>
              </a:rPr>
              <a:t> into a column called </a:t>
            </a:r>
            <a:r>
              <a:rPr lang="en-US" sz="1400" b="1" dirty="0" err="1">
                <a:solidFill>
                  <a:schemeClr val="hlink"/>
                </a:solidFill>
                <a:uFill>
                  <a:noFill/>
                </a:uFill>
              </a:rPr>
              <a:t>arrival_date</a:t>
            </a: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Merged columns </a:t>
            </a:r>
            <a:r>
              <a:rPr lang="en-US" sz="1400" b="1" dirty="0" err="1">
                <a:solidFill>
                  <a:schemeClr val="hlink"/>
                </a:solidFill>
                <a:uFill>
                  <a:noFill/>
                </a:uFill>
              </a:rPr>
              <a:t>stay_in_weekend_nights</a:t>
            </a:r>
            <a:r>
              <a:rPr lang="en-US" sz="1400" b="1" dirty="0">
                <a:solidFill>
                  <a:schemeClr val="hlink"/>
                </a:solidFill>
                <a:uFill>
                  <a:noFill/>
                </a:uFill>
              </a:rPr>
              <a:t> </a:t>
            </a:r>
            <a:r>
              <a:rPr lang="en-US" sz="1400" dirty="0">
                <a:solidFill>
                  <a:schemeClr val="hlink"/>
                </a:solidFill>
                <a:uFill>
                  <a:noFill/>
                </a:uFill>
              </a:rPr>
              <a:t>and </a:t>
            </a:r>
            <a:r>
              <a:rPr lang="en-US" sz="1400" b="1" dirty="0" err="1">
                <a:solidFill>
                  <a:schemeClr val="hlink"/>
                </a:solidFill>
                <a:uFill>
                  <a:noFill/>
                </a:uFill>
              </a:rPr>
              <a:t>stay_in</a:t>
            </a:r>
            <a:r>
              <a:rPr lang="en-US" sz="1400" b="1" dirty="0">
                <a:solidFill>
                  <a:schemeClr val="hlink"/>
                </a:solidFill>
                <a:uFill>
                  <a:noFill/>
                </a:uFill>
              </a:rPr>
              <a:t> _</a:t>
            </a:r>
            <a:r>
              <a:rPr lang="en-US" sz="1400" b="1" dirty="0" err="1">
                <a:solidFill>
                  <a:schemeClr val="hlink"/>
                </a:solidFill>
                <a:uFill>
                  <a:noFill/>
                </a:uFill>
              </a:rPr>
              <a:t>week_nights</a:t>
            </a:r>
            <a:r>
              <a:rPr lang="en-US" sz="1400" b="1" dirty="0">
                <a:solidFill>
                  <a:schemeClr val="hlink"/>
                </a:solidFill>
                <a:uFill>
                  <a:noFill/>
                </a:uFill>
              </a:rPr>
              <a:t> </a:t>
            </a:r>
            <a:r>
              <a:rPr lang="en-US" sz="1400" dirty="0">
                <a:solidFill>
                  <a:schemeClr val="hlink"/>
                </a:solidFill>
                <a:uFill>
                  <a:noFill/>
                </a:uFill>
              </a:rPr>
              <a:t>into a column called </a:t>
            </a:r>
            <a:r>
              <a:rPr lang="en-US" sz="1400" b="1" dirty="0" err="1">
                <a:solidFill>
                  <a:schemeClr val="hlink"/>
                </a:solidFill>
                <a:uFill>
                  <a:noFill/>
                </a:uFill>
              </a:rPr>
              <a:t>total_number_of_days</a:t>
            </a:r>
            <a:r>
              <a:rPr lang="en-US" sz="1400" b="1" dirty="0">
                <a:solidFill>
                  <a:schemeClr val="hlink"/>
                </a:solidFill>
                <a:uFill>
                  <a:noFill/>
                </a:uFill>
              </a:rPr>
              <a:t>.</a:t>
            </a:r>
            <a:endParaRPr lang="en-US" sz="1400"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Merged columns </a:t>
            </a:r>
            <a:r>
              <a:rPr lang="en-US" sz="1400" b="1" dirty="0">
                <a:solidFill>
                  <a:schemeClr val="hlink"/>
                </a:solidFill>
                <a:uFill>
                  <a:noFill/>
                </a:uFill>
              </a:rPr>
              <a:t>adults</a:t>
            </a:r>
            <a:r>
              <a:rPr lang="en-US" sz="1400" dirty="0">
                <a:solidFill>
                  <a:schemeClr val="hlink"/>
                </a:solidFill>
                <a:uFill>
                  <a:noFill/>
                </a:uFill>
              </a:rPr>
              <a:t>,</a:t>
            </a:r>
            <a:r>
              <a:rPr lang="en-US" sz="1400" b="1" dirty="0">
                <a:solidFill>
                  <a:schemeClr val="hlink"/>
                </a:solidFill>
                <a:uFill>
                  <a:noFill/>
                </a:uFill>
              </a:rPr>
              <a:t> children</a:t>
            </a:r>
            <a:r>
              <a:rPr lang="en-US" sz="1400" dirty="0">
                <a:solidFill>
                  <a:schemeClr val="hlink"/>
                </a:solidFill>
                <a:uFill>
                  <a:noFill/>
                </a:uFill>
              </a:rPr>
              <a:t> and</a:t>
            </a:r>
            <a:r>
              <a:rPr lang="en-US" sz="1400" b="1" dirty="0">
                <a:solidFill>
                  <a:schemeClr val="hlink"/>
                </a:solidFill>
                <a:uFill>
                  <a:noFill/>
                </a:uFill>
              </a:rPr>
              <a:t> babies </a:t>
            </a:r>
            <a:r>
              <a:rPr lang="en-US" sz="1400" dirty="0">
                <a:solidFill>
                  <a:schemeClr val="hlink"/>
                </a:solidFill>
                <a:uFill>
                  <a:noFill/>
                </a:uFill>
              </a:rPr>
              <a:t>into a column called </a:t>
            </a:r>
            <a:r>
              <a:rPr lang="en-US" sz="1400" b="1" dirty="0" err="1">
                <a:solidFill>
                  <a:schemeClr val="hlink"/>
                </a:solidFill>
                <a:uFill>
                  <a:noFill/>
                </a:uFill>
              </a:rPr>
              <a:t>total_guests</a:t>
            </a:r>
            <a:r>
              <a:rPr lang="en-US" sz="1400" b="1" dirty="0">
                <a:solidFill>
                  <a:schemeClr val="hlink"/>
                </a:solidFill>
                <a:uFill>
                  <a:noFill/>
                </a:uFill>
              </a:rPr>
              <a:t>.</a:t>
            </a:r>
            <a:endParaRPr lang="en-US" sz="1400" dirty="0">
              <a:solidFill>
                <a:schemeClr val="hlink"/>
              </a:solidFill>
              <a:uFill>
                <a:noFill/>
              </a:uFill>
            </a:endParaRPr>
          </a:p>
          <a:p>
            <a:pPr lvl="0" indent="-304800">
              <a:buClr>
                <a:schemeClr val="dk1"/>
              </a:buClr>
              <a:buSzPts val="1200"/>
              <a:buFont typeface="Crimson Pro"/>
              <a:buChar char="●"/>
            </a:pPr>
            <a:r>
              <a:rPr lang="en-US" sz="1400" dirty="0">
                <a:solidFill>
                  <a:schemeClr val="hlink"/>
                </a:solidFill>
                <a:uFill>
                  <a:noFill/>
                </a:uFill>
              </a:rPr>
              <a:t>Removed </a:t>
            </a:r>
            <a:r>
              <a:rPr lang="en-US" sz="1400" b="1" dirty="0">
                <a:solidFill>
                  <a:schemeClr val="hlink"/>
                </a:solidFill>
                <a:uFill>
                  <a:noFill/>
                </a:uFill>
              </a:rPr>
              <a:t>company </a:t>
            </a:r>
            <a:r>
              <a:rPr lang="en-US" sz="1400" dirty="0">
                <a:solidFill>
                  <a:schemeClr val="hlink"/>
                </a:solidFill>
                <a:uFill>
                  <a:noFill/>
                </a:uFill>
              </a:rPr>
              <a:t>and</a:t>
            </a:r>
            <a:r>
              <a:rPr lang="en-US" sz="1400" b="1" dirty="0">
                <a:solidFill>
                  <a:schemeClr val="hlink"/>
                </a:solidFill>
                <a:uFill>
                  <a:noFill/>
                </a:uFill>
              </a:rPr>
              <a:t> </a:t>
            </a:r>
            <a:r>
              <a:rPr lang="en-US" sz="1400" b="1" dirty="0" err="1">
                <a:solidFill>
                  <a:schemeClr val="hlink"/>
                </a:solidFill>
                <a:uFill>
                  <a:noFill/>
                </a:uFill>
              </a:rPr>
              <a:t>Days_in_waiting_list</a:t>
            </a:r>
            <a:r>
              <a:rPr lang="en-US" sz="1400" dirty="0">
                <a:solidFill>
                  <a:schemeClr val="hlink"/>
                </a:solidFill>
                <a:uFill>
                  <a:noFill/>
                </a:uFill>
              </a:rPr>
              <a:t> column because as most </a:t>
            </a:r>
            <a:r>
              <a:rPr lang="en-US" sz="1400" b="1" dirty="0">
                <a:solidFill>
                  <a:schemeClr val="hlink"/>
                </a:solidFill>
                <a:uFill>
                  <a:noFill/>
                </a:uFill>
              </a:rPr>
              <a:t>NULL</a:t>
            </a:r>
            <a:r>
              <a:rPr lang="en-US" sz="1400" dirty="0">
                <a:solidFill>
                  <a:schemeClr val="hlink"/>
                </a:solidFill>
                <a:uFill>
                  <a:noFill/>
                </a:uFill>
              </a:rPr>
              <a:t> values.</a:t>
            </a:r>
          </a:p>
          <a:p>
            <a:pPr lvl="0" indent="-304800">
              <a:buClr>
                <a:schemeClr val="dk1"/>
              </a:buClr>
              <a:buSzPts val="1200"/>
              <a:buFont typeface="Crimson Pro"/>
              <a:buChar char="●"/>
            </a:pPr>
            <a:r>
              <a:rPr lang="en-US" sz="1400" dirty="0">
                <a:solidFill>
                  <a:schemeClr val="hlink"/>
                </a:solidFill>
                <a:uFill>
                  <a:noFill/>
                </a:uFill>
              </a:rPr>
              <a:t>Added a calculated column called </a:t>
            </a:r>
            <a:r>
              <a:rPr lang="en-US" sz="1400" b="1" dirty="0">
                <a:solidFill>
                  <a:schemeClr val="hlink"/>
                </a:solidFill>
                <a:uFill>
                  <a:noFill/>
                </a:uFill>
              </a:rPr>
              <a:t>[Week of Day],</a:t>
            </a:r>
            <a:r>
              <a:rPr lang="en-US" sz="1400" dirty="0">
                <a:solidFill>
                  <a:schemeClr val="hlink"/>
                </a:solidFill>
                <a:uFill>
                  <a:noFill/>
                </a:uFill>
              </a:rPr>
              <a:t> which stores the day of the week in words rather than numbers.</a:t>
            </a:r>
          </a:p>
          <a:p>
            <a:pPr lvl="0" indent="-304800">
              <a:buClr>
                <a:schemeClr val="dk1"/>
              </a:buClr>
              <a:buSzPts val="1200"/>
              <a:buFont typeface="Crimson Pro"/>
              <a:buChar char="●"/>
            </a:pPr>
            <a:r>
              <a:rPr lang="en-US" sz="1400" dirty="0">
                <a:solidFill>
                  <a:schemeClr val="hlink"/>
                </a:solidFill>
                <a:uFill>
                  <a:noFill/>
                </a:uFill>
              </a:rPr>
              <a:t>Added index column called </a:t>
            </a:r>
            <a:r>
              <a:rPr lang="en-US" sz="1400" b="1" dirty="0" err="1">
                <a:solidFill>
                  <a:schemeClr val="hlink"/>
                </a:solidFill>
                <a:uFill>
                  <a:noFill/>
                </a:uFill>
              </a:rPr>
              <a:t>Booking_Id</a:t>
            </a:r>
            <a:r>
              <a:rPr lang="en-US" sz="1400" dirty="0">
                <a:solidFill>
                  <a:schemeClr val="hlink"/>
                </a:solidFill>
                <a:uFill>
                  <a:noFill/>
                </a:uFill>
              </a:rPr>
              <a:t>.</a:t>
            </a:r>
          </a:p>
          <a:p>
            <a:pPr marL="152400" lvl="0" indent="0" algn="l" rtl="0">
              <a:spcBef>
                <a:spcPts val="0"/>
              </a:spcBef>
              <a:spcAft>
                <a:spcPts val="0"/>
              </a:spcAft>
              <a:buClr>
                <a:schemeClr val="dk1"/>
              </a:buClr>
              <a:buSzPts val="1200"/>
              <a:buNone/>
            </a:pPr>
            <a:endParaRPr lang="en-US" sz="1400" dirty="0">
              <a:solidFill>
                <a:schemeClr val="hlink"/>
              </a:solidFill>
              <a:uFill>
                <a:noFill/>
              </a:uFill>
            </a:endParaRPr>
          </a:p>
          <a:p>
            <a:pPr marL="152400" lvl="0" indent="0" algn="l" rtl="0">
              <a:spcBef>
                <a:spcPts val="0"/>
              </a:spcBef>
              <a:spcAft>
                <a:spcPts val="0"/>
              </a:spcAft>
              <a:buClr>
                <a:schemeClr val="dk1"/>
              </a:buClr>
              <a:buSzPts val="1200"/>
              <a:buNone/>
            </a:pPr>
            <a:endParaRPr lang="en-US" sz="1400" dirty="0">
              <a:solidFill>
                <a:schemeClr val="hlink"/>
              </a:solidFill>
              <a:uFill>
                <a:noFill/>
              </a:uFill>
            </a:endParaRPr>
          </a:p>
        </p:txBody>
      </p:sp>
      <p:sp>
        <p:nvSpPr>
          <p:cNvPr id="908" name="Google Shape;908;p66"/>
          <p:cNvSpPr txBox="1">
            <a:spLocks noGrp="1"/>
          </p:cNvSpPr>
          <p:nvPr>
            <p:ph type="ctrTitle"/>
          </p:nvPr>
        </p:nvSpPr>
        <p:spPr>
          <a:xfrm>
            <a:off x="2580375" y="307074"/>
            <a:ext cx="3983400" cy="122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latin typeface="Cooper Black" panose="0208090404030B020404" pitchFamily="18" charset="0"/>
              </a:rPr>
              <a:t>DATA</a:t>
            </a:r>
            <a:br>
              <a:rPr lang="en" sz="3600" dirty="0">
                <a:latin typeface="Cooper Black" panose="0208090404030B020404" pitchFamily="18" charset="0"/>
              </a:rPr>
            </a:br>
            <a:r>
              <a:rPr lang="en" sz="3600" dirty="0">
                <a:solidFill>
                  <a:schemeClr val="dk2"/>
                </a:solidFill>
                <a:latin typeface="Cooper Black" panose="0208090404030B020404" pitchFamily="18" charset="0"/>
              </a:rPr>
              <a:t>CLEANING</a:t>
            </a:r>
            <a:endParaRPr sz="6000" dirty="0">
              <a:latin typeface="Cooper Black" panose="0208090404030B020404" pitchFamily="18" charset="0"/>
            </a:endParaRPr>
          </a:p>
        </p:txBody>
      </p:sp>
    </p:spTree>
    <p:extLst>
      <p:ext uri="{BB962C8B-B14F-4D97-AF65-F5344CB8AC3E}">
        <p14:creationId xmlns:p14="http://schemas.microsoft.com/office/powerpoint/2010/main" val="197698213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F240-6A65-5939-B996-765B7791C4C3}"/>
              </a:ext>
            </a:extLst>
          </p:cNvPr>
          <p:cNvSpPr>
            <a:spLocks noGrp="1"/>
          </p:cNvSpPr>
          <p:nvPr>
            <p:ph type="ctrTitle"/>
          </p:nvPr>
        </p:nvSpPr>
        <p:spPr>
          <a:xfrm>
            <a:off x="621507" y="1185756"/>
            <a:ext cx="7629525" cy="1228200"/>
          </a:xfrm>
        </p:spPr>
        <p:txBody>
          <a:bodyPr/>
          <a:lstStyle/>
          <a:p>
            <a:r>
              <a:rPr lang="en-IN" dirty="0">
                <a:latin typeface="Cooper Black" panose="0208090404030B020404" pitchFamily="18" charset="0"/>
              </a:rPr>
              <a:t>Data</a:t>
            </a:r>
            <a:r>
              <a:rPr lang="en-CA" dirty="0">
                <a:latin typeface="Cooper Black" panose="0208090404030B020404" pitchFamily="18" charset="0"/>
              </a:rPr>
              <a:t> Visualization </a:t>
            </a:r>
            <a:r>
              <a:rPr lang="en-CA" dirty="0">
                <a:solidFill>
                  <a:srgbClr val="090303"/>
                </a:solidFill>
                <a:latin typeface="Cooper Black" panose="0208090404030B020404" pitchFamily="18" charset="0"/>
              </a:rPr>
              <a:t>and</a:t>
            </a:r>
            <a:r>
              <a:rPr lang="en-CA" dirty="0">
                <a:solidFill>
                  <a:srgbClr val="FFC000"/>
                </a:solidFill>
                <a:latin typeface="Cooper Black" panose="0208090404030B020404" pitchFamily="18" charset="0"/>
              </a:rPr>
              <a:t> Analysis</a:t>
            </a:r>
            <a:br>
              <a:rPr lang="en-CA" dirty="0">
                <a:latin typeface="Cooper Black" panose="0208090404030B020404" pitchFamily="18" charset="0"/>
              </a:rPr>
            </a:br>
            <a:endParaRPr lang="en-IN" dirty="0">
              <a:latin typeface="Cooper Black" panose="0208090404030B020404" pitchFamily="18" charset="0"/>
            </a:endParaRPr>
          </a:p>
        </p:txBody>
      </p:sp>
    </p:spTree>
    <p:extLst>
      <p:ext uri="{BB962C8B-B14F-4D97-AF65-F5344CB8AC3E}">
        <p14:creationId xmlns:p14="http://schemas.microsoft.com/office/powerpoint/2010/main" val="94134514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166703" y="1532241"/>
            <a:ext cx="4441902" cy="26011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Pie chart, we can say that </a:t>
            </a:r>
            <a:r>
              <a:rPr lang="en-US" sz="1400" b="1" dirty="0">
                <a:solidFill>
                  <a:schemeClr val="hlink"/>
                </a:solidFill>
                <a:uFill>
                  <a:noFill/>
                </a:uFill>
              </a:rPr>
              <a:t>61.3%</a:t>
            </a:r>
            <a:r>
              <a:rPr lang="en-US" sz="1400" dirty="0">
                <a:solidFill>
                  <a:schemeClr val="hlink"/>
                </a:solidFill>
                <a:uFill>
                  <a:noFill/>
                </a:uFill>
              </a:rPr>
              <a:t> of people prefer the City Hotel and </a:t>
            </a:r>
            <a:r>
              <a:rPr lang="en-US" sz="1400" b="1" dirty="0">
                <a:solidFill>
                  <a:schemeClr val="hlink"/>
                </a:solidFill>
                <a:uFill>
                  <a:noFill/>
                </a:uFill>
              </a:rPr>
              <a:t>38.7%</a:t>
            </a:r>
            <a:r>
              <a:rPr lang="en-US" sz="1400" dirty="0">
                <a:solidFill>
                  <a:schemeClr val="hlink"/>
                </a:solidFill>
                <a:uFill>
                  <a:noFill/>
                </a:uFill>
              </a:rPr>
              <a:t> of people prefer the Resort Hotel.</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these observations, we understand that city hotel provides services which attract more guests. </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Resort hotels can enhance their offers to improve market share</a:t>
            </a:r>
          </a:p>
        </p:txBody>
      </p:sp>
      <p:sp>
        <p:nvSpPr>
          <p:cNvPr id="908" name="Google Shape;908;p66"/>
          <p:cNvSpPr txBox="1">
            <a:spLocks noGrp="1"/>
          </p:cNvSpPr>
          <p:nvPr>
            <p:ph type="ctrTitle"/>
          </p:nvPr>
        </p:nvSpPr>
        <p:spPr>
          <a:xfrm>
            <a:off x="736387" y="385764"/>
            <a:ext cx="7315200" cy="133588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3200" dirty="0">
                <a:latin typeface="Cooper Black" panose="0208090404030B020404" pitchFamily="18" charset="0"/>
              </a:rPr>
              <a:t>MOST PREFERRED</a:t>
            </a:r>
            <a:br>
              <a:rPr lang="en" sz="3200" dirty="0">
                <a:latin typeface="Cooper Black" panose="0208090404030B020404" pitchFamily="18" charset="0"/>
              </a:rPr>
            </a:br>
            <a:r>
              <a:rPr lang="en" sz="3200" dirty="0">
                <a:solidFill>
                  <a:srgbClr val="FFC000"/>
                </a:solidFill>
                <a:latin typeface="Cooper Black" panose="0208090404030B020404" pitchFamily="18" charset="0"/>
              </a:rPr>
              <a:t>HOTEL TO STAY </a:t>
            </a:r>
            <a:endParaRPr sz="5400" dirty="0">
              <a:solidFill>
                <a:srgbClr val="FFC000"/>
              </a:solidFill>
              <a:latin typeface="Cooper Black" panose="0208090404030B020404" pitchFamily="18" charset="0"/>
            </a:endParaRPr>
          </a:p>
        </p:txBody>
      </p:sp>
      <p:pic>
        <p:nvPicPr>
          <p:cNvPr id="5" name="Picture 4">
            <a:extLst>
              <a:ext uri="{FF2B5EF4-FFF2-40B4-BE49-F238E27FC236}">
                <a16:creationId xmlns:a16="http://schemas.microsoft.com/office/drawing/2014/main" id="{EB827CE8-4BF3-86B7-F576-B35F3ADC3E38}"/>
              </a:ext>
            </a:extLst>
          </p:cNvPr>
          <p:cNvPicPr>
            <a:picLocks noChangeAspect="1"/>
          </p:cNvPicPr>
          <p:nvPr/>
        </p:nvPicPr>
        <p:blipFill>
          <a:blip r:embed="rId3"/>
          <a:stretch>
            <a:fillRect/>
          </a:stretch>
        </p:blipFill>
        <p:spPr>
          <a:xfrm>
            <a:off x="4686037" y="1871491"/>
            <a:ext cx="3772426" cy="2457793"/>
          </a:xfrm>
          <a:prstGeom prst="rect">
            <a:avLst/>
          </a:prstGeom>
        </p:spPr>
      </p:pic>
    </p:spTree>
    <p:extLst>
      <p:ext uri="{BB962C8B-B14F-4D97-AF65-F5344CB8AC3E}">
        <p14:creationId xmlns:p14="http://schemas.microsoft.com/office/powerpoint/2010/main" val="142879776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166703" y="1532241"/>
            <a:ext cx="4441902" cy="26011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Pie chart, we can say that City Hotel has faced </a:t>
            </a:r>
            <a:r>
              <a:rPr lang="en-US" sz="1400" b="1" dirty="0">
                <a:solidFill>
                  <a:schemeClr val="hlink"/>
                </a:solidFill>
                <a:uFill>
                  <a:noFill/>
                </a:uFill>
              </a:rPr>
              <a:t>67.59% </a:t>
            </a:r>
            <a:r>
              <a:rPr lang="en-US" sz="1400" dirty="0">
                <a:solidFill>
                  <a:schemeClr val="hlink"/>
                </a:solidFill>
                <a:uFill>
                  <a:noFill/>
                </a:uFill>
              </a:rPr>
              <a:t>cancellations and Resort Hotel has faced </a:t>
            </a:r>
            <a:r>
              <a:rPr lang="en-US" sz="1400" b="1" dirty="0">
                <a:solidFill>
                  <a:schemeClr val="hlink"/>
                </a:solidFill>
                <a:uFill>
                  <a:noFill/>
                </a:uFill>
              </a:rPr>
              <a:t>32.41%</a:t>
            </a:r>
            <a:r>
              <a:rPr lang="en-US" sz="1400" dirty="0">
                <a:solidFill>
                  <a:schemeClr val="hlink"/>
                </a:solidFill>
                <a:uFill>
                  <a:noFill/>
                </a:uFill>
              </a:rPr>
              <a:t> </a:t>
            </a:r>
            <a:r>
              <a:rPr lang="en-US" sz="1400" b="1" dirty="0">
                <a:solidFill>
                  <a:schemeClr val="hlink"/>
                </a:solidFill>
                <a:uFill>
                  <a:noFill/>
                </a:uFill>
              </a:rPr>
              <a:t>% </a:t>
            </a:r>
            <a:r>
              <a:rPr lang="en-US" sz="1400" dirty="0">
                <a:solidFill>
                  <a:schemeClr val="hlink"/>
                </a:solidFill>
                <a:uFill>
                  <a:noFill/>
                </a:uFill>
              </a:rPr>
              <a:t>cancellations. Based on these observations, we say that though the city hotel has a higher number of bookings, it also has a higher number of cancellations. </a:t>
            </a:r>
          </a:p>
        </p:txBody>
      </p:sp>
      <p:sp>
        <p:nvSpPr>
          <p:cNvPr id="908" name="Google Shape;908;p66"/>
          <p:cNvSpPr txBox="1">
            <a:spLocks noGrp="1"/>
          </p:cNvSpPr>
          <p:nvPr>
            <p:ph type="ctrTitle"/>
          </p:nvPr>
        </p:nvSpPr>
        <p:spPr>
          <a:xfrm>
            <a:off x="929268" y="307074"/>
            <a:ext cx="7315200" cy="1023638"/>
          </a:xfrm>
          <a:prstGeom prst="rect">
            <a:avLst/>
          </a:prstGeom>
          <a:noFill/>
          <a:ln>
            <a:noFill/>
          </a:ln>
        </p:spPr>
        <p:txBody>
          <a:bodyPr spcFirstLastPara="1" wrap="square" lIns="91425" tIns="91425" rIns="91425" bIns="91425" anchor="t" anchorCtr="0">
            <a:noAutofit/>
          </a:bodyPr>
          <a:lstStyle/>
          <a:p>
            <a:r>
              <a:rPr lang="en-CA" sz="3200" dirty="0">
                <a:latin typeface="Cooper Black" panose="0208090404030B020404" pitchFamily="18" charset="0"/>
              </a:rPr>
              <a:t>MOST CANCELATIONS</a:t>
            </a:r>
            <a:br>
              <a:rPr lang="en" sz="3200" dirty="0">
                <a:latin typeface="Cooper Black" panose="0208090404030B020404" pitchFamily="18" charset="0"/>
              </a:rPr>
            </a:br>
            <a:r>
              <a:rPr lang="en" sz="3200" dirty="0">
                <a:solidFill>
                  <a:srgbClr val="FFC000"/>
                </a:solidFill>
                <a:latin typeface="Cooper Black" panose="0208090404030B020404" pitchFamily="18" charset="0"/>
              </a:rPr>
              <a:t>BY HOTEL </a:t>
            </a:r>
            <a:endParaRPr sz="3200" dirty="0">
              <a:solidFill>
                <a:srgbClr val="FFC000"/>
              </a:solidFill>
              <a:latin typeface="Cooper Black" panose="0208090404030B020404" pitchFamily="18" charset="0"/>
            </a:endParaRPr>
          </a:p>
        </p:txBody>
      </p:sp>
      <p:pic>
        <p:nvPicPr>
          <p:cNvPr id="5" name="Picture 4">
            <a:extLst>
              <a:ext uri="{FF2B5EF4-FFF2-40B4-BE49-F238E27FC236}">
                <a16:creationId xmlns:a16="http://schemas.microsoft.com/office/drawing/2014/main" id="{99A87274-D352-2E00-33A6-E3A00C7194FC}"/>
              </a:ext>
            </a:extLst>
          </p:cNvPr>
          <p:cNvPicPr>
            <a:picLocks noChangeAspect="1"/>
          </p:cNvPicPr>
          <p:nvPr/>
        </p:nvPicPr>
        <p:blipFill>
          <a:blip r:embed="rId3"/>
          <a:stretch>
            <a:fillRect/>
          </a:stretch>
        </p:blipFill>
        <p:spPr>
          <a:xfrm>
            <a:off x="4819393" y="1816728"/>
            <a:ext cx="3677163" cy="2381582"/>
          </a:xfrm>
          <a:prstGeom prst="rect">
            <a:avLst/>
          </a:prstGeom>
        </p:spPr>
      </p:pic>
    </p:spTree>
    <p:extLst>
      <p:ext uri="{BB962C8B-B14F-4D97-AF65-F5344CB8AC3E}">
        <p14:creationId xmlns:p14="http://schemas.microsoft.com/office/powerpoint/2010/main" val="94499132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166703" y="1532241"/>
            <a:ext cx="4441902" cy="26011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Donut chart, we can say that City Hotel has </a:t>
            </a:r>
            <a:r>
              <a:rPr lang="en-US" sz="1400" b="1" dirty="0">
                <a:solidFill>
                  <a:schemeClr val="hlink"/>
                </a:solidFill>
                <a:uFill>
                  <a:noFill/>
                </a:uFill>
              </a:rPr>
              <a:t>52.74% </a:t>
            </a:r>
            <a:r>
              <a:rPr lang="en-US" sz="1400" dirty="0">
                <a:solidFill>
                  <a:schemeClr val="hlink"/>
                </a:solidFill>
                <a:uFill>
                  <a:noFill/>
                </a:uFill>
              </a:rPr>
              <a:t>advanced booking and Resort Hotel has </a:t>
            </a:r>
            <a:r>
              <a:rPr lang="en-US" sz="1400" b="1" dirty="0">
                <a:solidFill>
                  <a:schemeClr val="hlink"/>
                </a:solidFill>
                <a:uFill>
                  <a:noFill/>
                </a:uFill>
              </a:rPr>
              <a:t>47.26% </a:t>
            </a:r>
            <a:r>
              <a:rPr lang="en-US" sz="1400" dirty="0">
                <a:solidFill>
                  <a:schemeClr val="hlink"/>
                </a:solidFill>
                <a:uFill>
                  <a:noFill/>
                </a:uFill>
              </a:rPr>
              <a:t>advanced booking,.</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these observations, we say that guests prefer to advance book city hotels as compared to resort hotels. </a:t>
            </a: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800" dirty="0">
                <a:latin typeface="Cooper Black" panose="0208090404030B020404" pitchFamily="18" charset="0"/>
              </a:rPr>
              <a:t>AVERAGE ADVANCED BOOKING</a:t>
            </a:r>
            <a:br>
              <a:rPr lang="en" sz="2800" dirty="0">
                <a:latin typeface="Cooper Black" panose="0208090404030B020404" pitchFamily="18" charset="0"/>
              </a:rPr>
            </a:br>
            <a:r>
              <a:rPr lang="en" sz="2800" dirty="0">
                <a:solidFill>
                  <a:srgbClr val="FFC000"/>
                </a:solidFill>
                <a:latin typeface="Cooper Black" panose="0208090404030B020404" pitchFamily="18" charset="0"/>
              </a:rPr>
              <a:t>BY HOTEL </a:t>
            </a:r>
            <a:endParaRPr sz="2800" dirty="0">
              <a:solidFill>
                <a:srgbClr val="FFC000"/>
              </a:solidFill>
              <a:latin typeface="Cooper Black" panose="0208090404030B020404" pitchFamily="18" charset="0"/>
            </a:endParaRPr>
          </a:p>
        </p:txBody>
      </p:sp>
      <p:pic>
        <p:nvPicPr>
          <p:cNvPr id="3" name="Picture 2">
            <a:extLst>
              <a:ext uri="{FF2B5EF4-FFF2-40B4-BE49-F238E27FC236}">
                <a16:creationId xmlns:a16="http://schemas.microsoft.com/office/drawing/2014/main" id="{BE611D8B-D8DE-ED38-C114-D16EB2F40B06}"/>
              </a:ext>
            </a:extLst>
          </p:cNvPr>
          <p:cNvPicPr>
            <a:picLocks noChangeAspect="1"/>
          </p:cNvPicPr>
          <p:nvPr/>
        </p:nvPicPr>
        <p:blipFill>
          <a:blip r:embed="rId3"/>
          <a:stretch>
            <a:fillRect/>
          </a:stretch>
        </p:blipFill>
        <p:spPr>
          <a:xfrm>
            <a:off x="5314950" y="1532241"/>
            <a:ext cx="3028950" cy="2829320"/>
          </a:xfrm>
          <a:prstGeom prst="rect">
            <a:avLst/>
          </a:prstGeom>
        </p:spPr>
      </p:pic>
    </p:spTree>
    <p:extLst>
      <p:ext uri="{BB962C8B-B14F-4D97-AF65-F5344CB8AC3E}">
        <p14:creationId xmlns:p14="http://schemas.microsoft.com/office/powerpoint/2010/main" val="267413380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388151" y="3679903"/>
            <a:ext cx="8367697" cy="95157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The Clustered Column chart shows weekly data by hotels. Based on the column chart, we can say that most guests arrive on Sunday for both City Hotels and Resort Hotels.</a:t>
            </a: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800" dirty="0">
                <a:latin typeface="Cooper Black" panose="0208090404030B020404" pitchFamily="18" charset="0"/>
              </a:rPr>
              <a:t>WEEKLY NUMBER OF GUESTS</a:t>
            </a:r>
            <a:br>
              <a:rPr lang="en-CA" sz="2800" dirty="0">
                <a:latin typeface="Cooper Black" panose="0208090404030B020404" pitchFamily="18" charset="0"/>
              </a:rPr>
            </a:br>
            <a:r>
              <a:rPr lang="en" sz="2800" dirty="0">
                <a:solidFill>
                  <a:srgbClr val="FFC000"/>
                </a:solidFill>
                <a:latin typeface="Cooper Black" panose="0208090404030B020404" pitchFamily="18" charset="0"/>
              </a:rPr>
              <a:t>BY HOTELS</a:t>
            </a:r>
            <a:endParaRPr sz="2800" dirty="0">
              <a:solidFill>
                <a:srgbClr val="FFC000"/>
              </a:solidFill>
              <a:latin typeface="Cooper Black" panose="0208090404030B020404" pitchFamily="18" charset="0"/>
            </a:endParaRPr>
          </a:p>
        </p:txBody>
      </p:sp>
      <p:pic>
        <p:nvPicPr>
          <p:cNvPr id="10" name="Picture 9">
            <a:extLst>
              <a:ext uri="{FF2B5EF4-FFF2-40B4-BE49-F238E27FC236}">
                <a16:creationId xmlns:a16="http://schemas.microsoft.com/office/drawing/2014/main" id="{A4F7D616-C6DB-CBC2-9569-394F57831075}"/>
              </a:ext>
            </a:extLst>
          </p:cNvPr>
          <p:cNvPicPr>
            <a:picLocks noChangeAspect="1"/>
          </p:cNvPicPr>
          <p:nvPr/>
        </p:nvPicPr>
        <p:blipFill>
          <a:blip r:embed="rId3"/>
          <a:stretch>
            <a:fillRect/>
          </a:stretch>
        </p:blipFill>
        <p:spPr>
          <a:xfrm>
            <a:off x="2376181" y="1195195"/>
            <a:ext cx="4391638" cy="2753109"/>
          </a:xfrm>
          <a:prstGeom prst="rect">
            <a:avLst/>
          </a:prstGeom>
        </p:spPr>
      </p:pic>
    </p:spTree>
    <p:extLst>
      <p:ext uri="{BB962C8B-B14F-4D97-AF65-F5344CB8AC3E}">
        <p14:creationId xmlns:p14="http://schemas.microsoft.com/office/powerpoint/2010/main" val="187722272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388151" y="3812788"/>
            <a:ext cx="8367697" cy="102363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The Map shows from which country the maximum number of guests visit. </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map, we can say that most guests visit from </a:t>
            </a:r>
            <a:r>
              <a:rPr lang="en-US" sz="1400" b="1" dirty="0">
                <a:solidFill>
                  <a:schemeClr val="hlink"/>
                </a:solidFill>
                <a:uFill>
                  <a:noFill/>
                </a:uFill>
              </a:rPr>
              <a:t>Portugal, the UK and France.</a:t>
            </a:r>
            <a:endParaRPr lang="en-US" sz="1400" dirty="0">
              <a:solidFill>
                <a:schemeClr val="hlink"/>
              </a:solidFill>
              <a:uFill>
                <a:noFill/>
              </a:uFill>
            </a:endParaRP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800" dirty="0">
                <a:latin typeface="Cooper Black" panose="0208090404030B020404" pitchFamily="18" charset="0"/>
              </a:rPr>
              <a:t>GUESTS FROM MOST </a:t>
            </a:r>
            <a:r>
              <a:rPr lang="en" sz="2800" dirty="0">
                <a:solidFill>
                  <a:srgbClr val="090303"/>
                </a:solidFill>
                <a:latin typeface="Cooper Black" panose="0208090404030B020404" pitchFamily="18" charset="0"/>
              </a:rPr>
              <a:t>VISITED</a:t>
            </a:r>
            <a:r>
              <a:rPr lang="en" sz="2800" dirty="0">
                <a:solidFill>
                  <a:srgbClr val="FFC000"/>
                </a:solidFill>
                <a:latin typeface="Cooper Black" panose="0208090404030B020404" pitchFamily="18" charset="0"/>
              </a:rPr>
              <a:t> COUNTRIES</a:t>
            </a:r>
            <a:endParaRPr sz="2800" dirty="0">
              <a:solidFill>
                <a:srgbClr val="FFC000"/>
              </a:solidFill>
              <a:latin typeface="Cooper Black" panose="0208090404030B020404" pitchFamily="18" charset="0"/>
            </a:endParaRPr>
          </a:p>
        </p:txBody>
      </p:sp>
      <p:pic>
        <p:nvPicPr>
          <p:cNvPr id="6" name="Picture 5">
            <a:extLst>
              <a:ext uri="{FF2B5EF4-FFF2-40B4-BE49-F238E27FC236}">
                <a16:creationId xmlns:a16="http://schemas.microsoft.com/office/drawing/2014/main" id="{E1A2E32D-63AC-DAC4-5342-AEE27ABE64BF}"/>
              </a:ext>
            </a:extLst>
          </p:cNvPr>
          <p:cNvPicPr>
            <a:picLocks noChangeAspect="1"/>
          </p:cNvPicPr>
          <p:nvPr/>
        </p:nvPicPr>
        <p:blipFill>
          <a:blip r:embed="rId3"/>
          <a:stretch>
            <a:fillRect/>
          </a:stretch>
        </p:blipFill>
        <p:spPr>
          <a:xfrm>
            <a:off x="2185989" y="1121166"/>
            <a:ext cx="4557712" cy="2901168"/>
          </a:xfrm>
          <a:prstGeom prst="rect">
            <a:avLst/>
          </a:prstGeom>
        </p:spPr>
      </p:pic>
    </p:spTree>
    <p:extLst>
      <p:ext uri="{BB962C8B-B14F-4D97-AF65-F5344CB8AC3E}">
        <p14:creationId xmlns:p14="http://schemas.microsoft.com/office/powerpoint/2010/main" val="65615194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166703" y="1532241"/>
            <a:ext cx="4441902" cy="26011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Pie chart, we can say out of all the bookings, </a:t>
            </a:r>
            <a:r>
              <a:rPr lang="en-US" sz="1400" b="1" dirty="0">
                <a:solidFill>
                  <a:schemeClr val="hlink"/>
                </a:solidFill>
                <a:uFill>
                  <a:noFill/>
                </a:uFill>
              </a:rPr>
              <a:t>72.73%</a:t>
            </a:r>
            <a:r>
              <a:rPr lang="en-US" sz="1400" dirty="0">
                <a:solidFill>
                  <a:schemeClr val="hlink"/>
                </a:solidFill>
                <a:uFill>
                  <a:noFill/>
                </a:uFill>
              </a:rPr>
              <a:t> of guests Checked-Out, </a:t>
            </a:r>
            <a:r>
              <a:rPr lang="en-US" sz="1400" b="1" dirty="0">
                <a:solidFill>
                  <a:schemeClr val="hlink"/>
                </a:solidFill>
                <a:uFill>
                  <a:noFill/>
                </a:uFill>
              </a:rPr>
              <a:t>26.14%</a:t>
            </a:r>
            <a:r>
              <a:rPr lang="en-US" sz="1400" dirty="0">
                <a:solidFill>
                  <a:schemeClr val="hlink"/>
                </a:solidFill>
                <a:uFill>
                  <a:noFill/>
                </a:uFill>
              </a:rPr>
              <a:t> of guests Cancelled the booking, while only a </a:t>
            </a:r>
            <a:r>
              <a:rPr lang="en-US" sz="1400" b="1" dirty="0">
                <a:solidFill>
                  <a:schemeClr val="hlink"/>
                </a:solidFill>
                <a:uFill>
                  <a:noFill/>
                </a:uFill>
              </a:rPr>
              <a:t>1.13%</a:t>
            </a:r>
            <a:r>
              <a:rPr lang="en-US" sz="1400" dirty="0">
                <a:solidFill>
                  <a:schemeClr val="hlink"/>
                </a:solidFill>
                <a:uFill>
                  <a:noFill/>
                </a:uFill>
              </a:rPr>
              <a:t> of guests, were a No-Show.</a:t>
            </a: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400" dirty="0">
                <a:latin typeface="Cooper Black" panose="0208090404030B020404" pitchFamily="18" charset="0"/>
              </a:rPr>
              <a:t>BOOKING STATUS</a:t>
            </a:r>
            <a:br>
              <a:rPr lang="en" sz="3200" dirty="0">
                <a:latin typeface="Cooper Black" panose="0208090404030B020404" pitchFamily="18" charset="0"/>
              </a:rPr>
            </a:br>
            <a:r>
              <a:rPr lang="en" sz="3200" dirty="0">
                <a:solidFill>
                  <a:srgbClr val="FFC000"/>
                </a:solidFill>
                <a:latin typeface="Cooper Black" panose="0208090404030B020404" pitchFamily="18" charset="0"/>
              </a:rPr>
              <a:t>OF GUESTS </a:t>
            </a:r>
            <a:endParaRPr sz="5400" dirty="0">
              <a:solidFill>
                <a:srgbClr val="FFC000"/>
              </a:solidFill>
              <a:latin typeface="Cooper Black" panose="0208090404030B020404" pitchFamily="18" charset="0"/>
            </a:endParaRPr>
          </a:p>
        </p:txBody>
      </p:sp>
      <p:pic>
        <p:nvPicPr>
          <p:cNvPr id="4" name="Picture 3">
            <a:extLst>
              <a:ext uri="{FF2B5EF4-FFF2-40B4-BE49-F238E27FC236}">
                <a16:creationId xmlns:a16="http://schemas.microsoft.com/office/drawing/2014/main" id="{357CA7B3-1626-3A9B-D12A-4A9CDFB03C7E}"/>
              </a:ext>
            </a:extLst>
          </p:cNvPr>
          <p:cNvPicPr>
            <a:picLocks noChangeAspect="1"/>
          </p:cNvPicPr>
          <p:nvPr/>
        </p:nvPicPr>
        <p:blipFill>
          <a:blip r:embed="rId3"/>
          <a:stretch>
            <a:fillRect/>
          </a:stretch>
        </p:blipFill>
        <p:spPr>
          <a:xfrm>
            <a:off x="4485992" y="1645261"/>
            <a:ext cx="4058216" cy="2610214"/>
          </a:xfrm>
          <a:prstGeom prst="rect">
            <a:avLst/>
          </a:prstGeom>
        </p:spPr>
      </p:pic>
    </p:spTree>
    <p:extLst>
      <p:ext uri="{BB962C8B-B14F-4D97-AF65-F5344CB8AC3E}">
        <p14:creationId xmlns:p14="http://schemas.microsoft.com/office/powerpoint/2010/main" val="191870751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388151" y="3679903"/>
            <a:ext cx="8367697" cy="11565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The Clustered Bar chart shows the meals type for guests of different hotels. </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bar chart, we can say that most of the guests prefer </a:t>
            </a:r>
            <a:r>
              <a:rPr lang="en-US" sz="1400" b="1" dirty="0">
                <a:solidFill>
                  <a:schemeClr val="hlink"/>
                </a:solidFill>
                <a:uFill>
                  <a:noFill/>
                </a:uFill>
              </a:rPr>
              <a:t>BB </a:t>
            </a:r>
            <a:r>
              <a:rPr lang="en-US" sz="1400" dirty="0">
                <a:solidFill>
                  <a:schemeClr val="hlink"/>
                </a:solidFill>
                <a:uFill>
                  <a:noFill/>
                </a:uFill>
              </a:rPr>
              <a:t>meal type.</a:t>
            </a: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800" dirty="0">
                <a:latin typeface="Cooper Black" panose="0208090404030B020404" pitchFamily="18" charset="0"/>
              </a:rPr>
              <a:t>MEAL TYPES OF </a:t>
            </a:r>
            <a:r>
              <a:rPr lang="en" sz="2800" dirty="0">
                <a:solidFill>
                  <a:srgbClr val="090303"/>
                </a:solidFill>
                <a:latin typeface="Cooper Black" panose="0208090404030B020404" pitchFamily="18" charset="0"/>
              </a:rPr>
              <a:t>HOTELS </a:t>
            </a:r>
            <a:br>
              <a:rPr lang="en" sz="2800" dirty="0">
                <a:solidFill>
                  <a:srgbClr val="FFC000"/>
                </a:solidFill>
                <a:latin typeface="Cooper Black" panose="0208090404030B020404" pitchFamily="18" charset="0"/>
              </a:rPr>
            </a:br>
            <a:r>
              <a:rPr lang="en" sz="2800" dirty="0">
                <a:solidFill>
                  <a:srgbClr val="FFC000"/>
                </a:solidFill>
                <a:latin typeface="Cooper Black" panose="0208090404030B020404" pitchFamily="18" charset="0"/>
              </a:rPr>
              <a:t>GUESTS</a:t>
            </a:r>
            <a:endParaRPr sz="2800" dirty="0">
              <a:solidFill>
                <a:srgbClr val="FFC000"/>
              </a:solidFill>
              <a:latin typeface="Cooper Black" panose="0208090404030B020404" pitchFamily="18" charset="0"/>
            </a:endParaRPr>
          </a:p>
        </p:txBody>
      </p:sp>
      <p:pic>
        <p:nvPicPr>
          <p:cNvPr id="6" name="Picture 5">
            <a:extLst>
              <a:ext uri="{FF2B5EF4-FFF2-40B4-BE49-F238E27FC236}">
                <a16:creationId xmlns:a16="http://schemas.microsoft.com/office/drawing/2014/main" id="{5B3DCECD-F3DE-F757-1F61-43744C9BA62E}"/>
              </a:ext>
            </a:extLst>
          </p:cNvPr>
          <p:cNvPicPr>
            <a:picLocks noChangeAspect="1"/>
          </p:cNvPicPr>
          <p:nvPr/>
        </p:nvPicPr>
        <p:blipFill>
          <a:blip r:embed="rId3"/>
          <a:stretch>
            <a:fillRect/>
          </a:stretch>
        </p:blipFill>
        <p:spPr>
          <a:xfrm>
            <a:off x="1961785" y="1207294"/>
            <a:ext cx="5220429" cy="2812458"/>
          </a:xfrm>
          <a:prstGeom prst="rect">
            <a:avLst/>
          </a:prstGeom>
        </p:spPr>
      </p:pic>
    </p:spTree>
    <p:extLst>
      <p:ext uri="{BB962C8B-B14F-4D97-AF65-F5344CB8AC3E}">
        <p14:creationId xmlns:p14="http://schemas.microsoft.com/office/powerpoint/2010/main" val="315067786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166703" y="1532241"/>
            <a:ext cx="4441902" cy="26011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Donut chart, only </a:t>
            </a:r>
            <a:r>
              <a:rPr lang="en-US" sz="1400" b="1" dirty="0">
                <a:solidFill>
                  <a:schemeClr val="hlink"/>
                </a:solidFill>
                <a:uFill>
                  <a:noFill/>
                </a:uFill>
              </a:rPr>
              <a:t>3.95% </a:t>
            </a:r>
            <a:r>
              <a:rPr lang="en-US" sz="1400" dirty="0">
                <a:solidFill>
                  <a:schemeClr val="hlink"/>
                </a:solidFill>
                <a:uFill>
                  <a:noFill/>
                </a:uFill>
              </a:rPr>
              <a:t>guest visits repeat.</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this observation, If hotels offers some discount coupons to guest it will help them to increase proportion of repeated guest.</a:t>
            </a: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400" dirty="0">
                <a:latin typeface="Cooper Black" panose="0208090404030B020404" pitchFamily="18" charset="0"/>
              </a:rPr>
              <a:t>PROPORTION OF REPEATED</a:t>
            </a:r>
            <a:br>
              <a:rPr lang="en" sz="3200" dirty="0">
                <a:latin typeface="Cooper Black" panose="0208090404030B020404" pitchFamily="18" charset="0"/>
              </a:rPr>
            </a:br>
            <a:r>
              <a:rPr lang="en" sz="3200" dirty="0">
                <a:solidFill>
                  <a:srgbClr val="FFC000"/>
                </a:solidFill>
                <a:latin typeface="Cooper Black" panose="0208090404030B020404" pitchFamily="18" charset="0"/>
              </a:rPr>
              <a:t>GUESTS </a:t>
            </a:r>
            <a:endParaRPr sz="5400" dirty="0">
              <a:solidFill>
                <a:srgbClr val="FFC000"/>
              </a:solidFill>
              <a:latin typeface="Cooper Black" panose="0208090404030B020404" pitchFamily="18" charset="0"/>
            </a:endParaRPr>
          </a:p>
        </p:txBody>
      </p:sp>
      <p:pic>
        <p:nvPicPr>
          <p:cNvPr id="3" name="Picture 2">
            <a:extLst>
              <a:ext uri="{FF2B5EF4-FFF2-40B4-BE49-F238E27FC236}">
                <a16:creationId xmlns:a16="http://schemas.microsoft.com/office/drawing/2014/main" id="{F06B3384-0013-A0FB-704B-5E00012CF0EE}"/>
              </a:ext>
            </a:extLst>
          </p:cNvPr>
          <p:cNvPicPr>
            <a:picLocks noChangeAspect="1"/>
          </p:cNvPicPr>
          <p:nvPr/>
        </p:nvPicPr>
        <p:blipFill>
          <a:blip r:embed="rId3"/>
          <a:stretch>
            <a:fillRect/>
          </a:stretch>
        </p:blipFill>
        <p:spPr>
          <a:xfrm>
            <a:off x="4812252" y="1532241"/>
            <a:ext cx="3648584" cy="2591162"/>
          </a:xfrm>
          <a:prstGeom prst="rect">
            <a:avLst/>
          </a:prstGeom>
        </p:spPr>
      </p:pic>
    </p:spTree>
    <p:extLst>
      <p:ext uri="{BB962C8B-B14F-4D97-AF65-F5344CB8AC3E}">
        <p14:creationId xmlns:p14="http://schemas.microsoft.com/office/powerpoint/2010/main" val="210338946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388151" y="3679903"/>
            <a:ext cx="8367697" cy="115652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sz="1400" b="1" dirty="0">
              <a:solidFill>
                <a:schemeClr val="hlink"/>
              </a:solidFill>
              <a:uFill>
                <a:noFill/>
              </a:uFill>
            </a:endParaRP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The Ribbon chart shows the most preferred market segment for city hotels and resort hotels</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Based on the ribbon chart, we can say that the most preferred market segment is </a:t>
            </a:r>
            <a:r>
              <a:rPr lang="en-US" sz="1400" b="1" dirty="0">
                <a:solidFill>
                  <a:schemeClr val="hlink"/>
                </a:solidFill>
                <a:uFill>
                  <a:noFill/>
                </a:uFill>
              </a:rPr>
              <a:t>Online TA</a:t>
            </a:r>
            <a:r>
              <a:rPr lang="en-US" sz="1400" dirty="0">
                <a:solidFill>
                  <a:schemeClr val="hlink"/>
                </a:solidFill>
                <a:uFill>
                  <a:noFill/>
                </a:uFill>
              </a:rPr>
              <a:t>, which is approximate. </a:t>
            </a:r>
            <a:r>
              <a:rPr lang="en-US" sz="1400" b="1" dirty="0">
                <a:solidFill>
                  <a:schemeClr val="hlink"/>
                </a:solidFill>
                <a:uFill>
                  <a:noFill/>
                </a:uFill>
              </a:rPr>
              <a:t>17K </a:t>
            </a:r>
            <a:r>
              <a:rPr lang="en-US" sz="1400" dirty="0">
                <a:solidFill>
                  <a:schemeClr val="hlink"/>
                </a:solidFill>
                <a:uFill>
                  <a:noFill/>
                </a:uFill>
              </a:rPr>
              <a:t>for City Hotel and </a:t>
            </a:r>
            <a:r>
              <a:rPr lang="en-US" sz="1400" b="1" dirty="0">
                <a:solidFill>
                  <a:schemeClr val="hlink"/>
                </a:solidFill>
                <a:uFill>
                  <a:noFill/>
                </a:uFill>
              </a:rPr>
              <a:t>6K</a:t>
            </a:r>
            <a:r>
              <a:rPr lang="en-US" sz="1400" dirty="0">
                <a:solidFill>
                  <a:schemeClr val="hlink"/>
                </a:solidFill>
                <a:uFill>
                  <a:noFill/>
                </a:uFill>
              </a:rPr>
              <a:t> for Resort Hotel, respectively.</a:t>
            </a:r>
          </a:p>
        </p:txBody>
      </p:sp>
      <p:sp>
        <p:nvSpPr>
          <p:cNvPr id="908" name="Google Shape;908;p66"/>
          <p:cNvSpPr txBox="1">
            <a:spLocks noGrp="1"/>
          </p:cNvSpPr>
          <p:nvPr>
            <p:ph type="ctrTitle"/>
          </p:nvPr>
        </p:nvSpPr>
        <p:spPr>
          <a:xfrm>
            <a:off x="929268" y="307074"/>
            <a:ext cx="7315200" cy="10236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400" dirty="0">
                <a:latin typeface="Cooper Black" panose="0208090404030B020404" pitchFamily="18" charset="0"/>
              </a:rPr>
              <a:t>MOST PREFERRED </a:t>
            </a:r>
            <a:br>
              <a:rPr lang="en-CA" sz="2400" dirty="0">
                <a:latin typeface="Cooper Black" panose="0208090404030B020404" pitchFamily="18" charset="0"/>
              </a:rPr>
            </a:br>
            <a:r>
              <a:rPr lang="en" sz="3200" dirty="0">
                <a:solidFill>
                  <a:srgbClr val="FFC000"/>
                </a:solidFill>
                <a:latin typeface="Cooper Black" panose="0208090404030B020404" pitchFamily="18" charset="0"/>
              </a:rPr>
              <a:t>MARKET SEGMENT</a:t>
            </a:r>
            <a:endParaRPr sz="5400" dirty="0">
              <a:solidFill>
                <a:srgbClr val="FFC000"/>
              </a:solidFill>
              <a:latin typeface="Cooper Black" panose="0208090404030B020404" pitchFamily="18" charset="0"/>
            </a:endParaRPr>
          </a:p>
        </p:txBody>
      </p:sp>
      <p:pic>
        <p:nvPicPr>
          <p:cNvPr id="3" name="Picture 2">
            <a:extLst>
              <a:ext uri="{FF2B5EF4-FFF2-40B4-BE49-F238E27FC236}">
                <a16:creationId xmlns:a16="http://schemas.microsoft.com/office/drawing/2014/main" id="{635C84DF-8788-F9D8-14C2-620D71925B29}"/>
              </a:ext>
            </a:extLst>
          </p:cNvPr>
          <p:cNvPicPr>
            <a:picLocks noChangeAspect="1"/>
          </p:cNvPicPr>
          <p:nvPr/>
        </p:nvPicPr>
        <p:blipFill>
          <a:blip r:embed="rId3"/>
          <a:stretch>
            <a:fillRect/>
          </a:stretch>
        </p:blipFill>
        <p:spPr>
          <a:xfrm>
            <a:off x="1885951" y="1225153"/>
            <a:ext cx="5243512" cy="2693194"/>
          </a:xfrm>
          <a:prstGeom prst="rect">
            <a:avLst/>
          </a:prstGeom>
        </p:spPr>
      </p:pic>
    </p:spTree>
    <p:extLst>
      <p:ext uri="{BB962C8B-B14F-4D97-AF65-F5344CB8AC3E}">
        <p14:creationId xmlns:p14="http://schemas.microsoft.com/office/powerpoint/2010/main" val="109079057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3" name="Picture 2">
            <a:extLst>
              <a:ext uri="{FF2B5EF4-FFF2-40B4-BE49-F238E27FC236}">
                <a16:creationId xmlns:a16="http://schemas.microsoft.com/office/drawing/2014/main" id="{DB974DB8-BA9C-A3C8-0939-31AFA6037A62}"/>
              </a:ext>
            </a:extLst>
          </p:cNvPr>
          <p:cNvPicPr>
            <a:picLocks noChangeAspect="1"/>
          </p:cNvPicPr>
          <p:nvPr/>
        </p:nvPicPr>
        <p:blipFill>
          <a:blip r:embed="rId3"/>
          <a:stretch>
            <a:fillRect/>
          </a:stretch>
        </p:blipFill>
        <p:spPr>
          <a:xfrm>
            <a:off x="22251" y="0"/>
            <a:ext cx="9099498" cy="5143500"/>
          </a:xfrm>
          <a:prstGeom prst="rect">
            <a:avLst/>
          </a:prstGeom>
        </p:spPr>
      </p:pic>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3" name="Picture 2">
            <a:extLst>
              <a:ext uri="{FF2B5EF4-FFF2-40B4-BE49-F238E27FC236}">
                <a16:creationId xmlns:a16="http://schemas.microsoft.com/office/drawing/2014/main" id="{5C1E9CD3-F7F2-36BE-2F8A-DB2CBC5F6A5F}"/>
              </a:ext>
            </a:extLst>
          </p:cNvPr>
          <p:cNvPicPr>
            <a:picLocks noChangeAspect="1"/>
          </p:cNvPicPr>
          <p:nvPr/>
        </p:nvPicPr>
        <p:blipFill>
          <a:blip r:embed="rId3"/>
          <a:stretch>
            <a:fillRect/>
          </a:stretch>
        </p:blipFill>
        <p:spPr>
          <a:xfrm>
            <a:off x="40987" y="0"/>
            <a:ext cx="9062026" cy="5143500"/>
          </a:xfrm>
          <a:prstGeom prst="rect">
            <a:avLst/>
          </a:prstGeom>
        </p:spPr>
      </p:pic>
    </p:spTree>
    <p:extLst>
      <p:ext uri="{BB962C8B-B14F-4D97-AF65-F5344CB8AC3E}">
        <p14:creationId xmlns:p14="http://schemas.microsoft.com/office/powerpoint/2010/main" val="297837438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6"/>
          <p:cNvSpPr txBox="1">
            <a:spLocks noGrp="1"/>
          </p:cNvSpPr>
          <p:nvPr>
            <p:ph type="body" idx="1"/>
          </p:nvPr>
        </p:nvSpPr>
        <p:spPr>
          <a:xfrm>
            <a:off x="663789" y="1314914"/>
            <a:ext cx="8259336" cy="3178612"/>
          </a:xfrm>
          <a:prstGeom prst="rect">
            <a:avLst/>
          </a:prstGeom>
        </p:spPr>
        <p:txBody>
          <a:bodyPr spcFirstLastPara="1" wrap="square" lIns="91425" tIns="91425" rIns="91425" bIns="91425" anchor="ctr" anchorCtr="0">
            <a:noAutofit/>
          </a:bodyPr>
          <a:lstStyle/>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This Analysis shows </a:t>
            </a:r>
            <a:r>
              <a:rPr lang="en-US" sz="1400" b="1" dirty="0">
                <a:solidFill>
                  <a:schemeClr val="hlink"/>
                </a:solidFill>
                <a:uFill>
                  <a:noFill/>
                </a:uFill>
              </a:rPr>
              <a:t>City Hotels </a:t>
            </a:r>
            <a:r>
              <a:rPr lang="en-US" sz="1400" dirty="0">
                <a:solidFill>
                  <a:schemeClr val="hlink"/>
                </a:solidFill>
                <a:uFill>
                  <a:noFill/>
                </a:uFill>
              </a:rPr>
              <a:t>h</a:t>
            </a:r>
            <a:r>
              <a:rPr lang="en-US" sz="1400" dirty="0">
                <a:solidFill>
                  <a:srgbClr val="090303"/>
                </a:solidFill>
                <a:uFill>
                  <a:noFill/>
                </a:uFill>
              </a:rPr>
              <a:t>a</a:t>
            </a:r>
            <a:r>
              <a:rPr lang="en-US" sz="1400" dirty="0">
                <a:solidFill>
                  <a:schemeClr val="hlink"/>
                </a:solidFill>
                <a:uFill>
                  <a:noFill/>
                </a:uFill>
              </a:rPr>
              <a:t>s higher </a:t>
            </a:r>
            <a:r>
              <a:rPr lang="en-US" sz="1400" b="1" dirty="0">
                <a:solidFill>
                  <a:schemeClr val="hlink"/>
                </a:solidFill>
                <a:uFill>
                  <a:noFill/>
                </a:uFill>
              </a:rPr>
              <a:t>booking rate </a:t>
            </a:r>
            <a:r>
              <a:rPr lang="en-US" sz="1400" dirty="0">
                <a:solidFill>
                  <a:schemeClr val="hlink"/>
                </a:solidFill>
                <a:uFill>
                  <a:noFill/>
                </a:uFill>
              </a:rPr>
              <a:t>than </a:t>
            </a:r>
            <a:r>
              <a:rPr lang="en-US" sz="1400" b="1" dirty="0">
                <a:solidFill>
                  <a:schemeClr val="hlink"/>
                </a:solidFill>
                <a:uFill>
                  <a:noFill/>
                </a:uFill>
              </a:rPr>
              <a:t>Resort Hotels</a:t>
            </a:r>
            <a:r>
              <a:rPr lang="en-US" sz="1400" dirty="0">
                <a:solidFill>
                  <a:schemeClr val="hlink"/>
                </a:solidFill>
                <a:uFill>
                  <a:noFill/>
                </a:uFill>
              </a:rPr>
              <a:t>. </a:t>
            </a:r>
          </a:p>
          <a:p>
            <a:pPr lvl="0" indent="-304800">
              <a:buClr>
                <a:schemeClr val="dk1"/>
              </a:buClr>
              <a:buSzPts val="1200"/>
              <a:buFont typeface="Crimson Pro"/>
              <a:buChar char="●"/>
            </a:pPr>
            <a:r>
              <a:rPr lang="en-US" sz="1400" b="1" dirty="0">
                <a:solidFill>
                  <a:srgbClr val="090303"/>
                </a:solidFill>
              </a:rPr>
              <a:t>City Hotels </a:t>
            </a:r>
            <a:r>
              <a:rPr lang="en-US" sz="1400" dirty="0">
                <a:solidFill>
                  <a:srgbClr val="090303"/>
                </a:solidFill>
              </a:rPr>
              <a:t>have more cancellations than </a:t>
            </a:r>
            <a:r>
              <a:rPr lang="en-US" sz="1400" b="1" dirty="0">
                <a:solidFill>
                  <a:srgbClr val="090303"/>
                </a:solidFill>
              </a:rPr>
              <a:t>Resort Hotels. </a:t>
            </a:r>
            <a:r>
              <a:rPr lang="en-US" sz="1400" dirty="0">
                <a:solidFill>
                  <a:srgbClr val="090303"/>
                </a:solidFill>
              </a:rPr>
              <a:t>They should try strategies to keep guests and reduce cancellations.</a:t>
            </a:r>
          </a:p>
          <a:p>
            <a:pPr lvl="0" indent="-304800">
              <a:buClr>
                <a:schemeClr val="dk1"/>
              </a:buClr>
              <a:buSzPts val="1200"/>
              <a:buFont typeface="Crimson Pro"/>
              <a:buChar char="●"/>
            </a:pPr>
            <a:r>
              <a:rPr lang="en-US" sz="1400" b="1" dirty="0">
                <a:solidFill>
                  <a:schemeClr val="hlink"/>
                </a:solidFill>
                <a:uFill>
                  <a:noFill/>
                </a:uFill>
              </a:rPr>
              <a:t>City Hotel </a:t>
            </a:r>
            <a:r>
              <a:rPr lang="en-US" sz="1400" dirty="0">
                <a:solidFill>
                  <a:schemeClr val="hlink"/>
                </a:solidFill>
                <a:uFill>
                  <a:noFill/>
                </a:uFill>
              </a:rPr>
              <a:t>can increase repeat guest by adding loyalty benefits and better customer experience.</a:t>
            </a:r>
          </a:p>
          <a:p>
            <a:pPr marL="457200" lvl="0" indent="-304800" algn="l" rtl="0">
              <a:spcBef>
                <a:spcPts val="0"/>
              </a:spcBef>
              <a:spcAft>
                <a:spcPts val="0"/>
              </a:spcAft>
              <a:buClr>
                <a:schemeClr val="dk1"/>
              </a:buClr>
              <a:buSzPts val="1200"/>
              <a:buFont typeface="Crimson Pro"/>
              <a:buChar char="●"/>
            </a:pPr>
            <a:r>
              <a:rPr lang="en-US" sz="1400" dirty="0">
                <a:solidFill>
                  <a:schemeClr val="hlink"/>
                </a:solidFill>
                <a:uFill>
                  <a:noFill/>
                </a:uFill>
              </a:rPr>
              <a:t>Focusing on </a:t>
            </a:r>
            <a:r>
              <a:rPr lang="en-US" sz="1400" b="1" dirty="0">
                <a:solidFill>
                  <a:schemeClr val="hlink"/>
                </a:solidFill>
                <a:uFill>
                  <a:noFill/>
                </a:uFill>
              </a:rPr>
              <a:t>‘BB’ </a:t>
            </a:r>
            <a:r>
              <a:rPr lang="en-US" sz="1400" dirty="0">
                <a:solidFill>
                  <a:schemeClr val="hlink"/>
                </a:solidFill>
                <a:uFill>
                  <a:noFill/>
                </a:uFill>
              </a:rPr>
              <a:t>as the preferred </a:t>
            </a:r>
            <a:r>
              <a:rPr lang="en-US" sz="1400" b="1" dirty="0">
                <a:solidFill>
                  <a:schemeClr val="hlink"/>
                </a:solidFill>
                <a:uFill>
                  <a:noFill/>
                </a:uFill>
              </a:rPr>
              <a:t>meal choice</a:t>
            </a:r>
            <a:r>
              <a:rPr lang="en-US" sz="1400" dirty="0">
                <a:solidFill>
                  <a:schemeClr val="hlink"/>
                </a:solidFill>
                <a:uFill>
                  <a:noFill/>
                </a:uFill>
              </a:rPr>
              <a:t> and customizing the dining options and experiences could improve guest contentment.</a:t>
            </a:r>
          </a:p>
          <a:p>
            <a:pPr lvl="0" indent="-304800">
              <a:buClr>
                <a:schemeClr val="dk1"/>
              </a:buClr>
              <a:buSzPts val="1200"/>
              <a:buFont typeface="Crimson Pro"/>
              <a:buChar char="●"/>
            </a:pPr>
            <a:r>
              <a:rPr lang="en-US" sz="1400" dirty="0">
                <a:solidFill>
                  <a:srgbClr val="090303"/>
                </a:solidFill>
              </a:rPr>
              <a:t>Most guests come from Portugal, the UK, and France. Keep Marketing in these countries can bring more bookings.</a:t>
            </a:r>
          </a:p>
          <a:p>
            <a:pPr lvl="0" indent="-304800">
              <a:buClr>
                <a:schemeClr val="dk1"/>
              </a:buClr>
              <a:buSzPts val="1200"/>
              <a:buFont typeface="Crimson Pro"/>
              <a:buChar char="●"/>
            </a:pPr>
            <a:r>
              <a:rPr lang="en-US" sz="1400" b="1" dirty="0">
                <a:solidFill>
                  <a:srgbClr val="090303"/>
                </a:solidFill>
              </a:rPr>
              <a:t>Only Few guests are coming back </a:t>
            </a:r>
            <a:r>
              <a:rPr lang="en-US" sz="1400" dirty="0">
                <a:solidFill>
                  <a:srgbClr val="090303"/>
                </a:solidFill>
              </a:rPr>
              <a:t>Loyalty program can help to increase repeat stay.</a:t>
            </a:r>
          </a:p>
          <a:p>
            <a:pPr lvl="0" indent="-304800">
              <a:buClr>
                <a:schemeClr val="dk1"/>
              </a:buClr>
              <a:buSzPts val="1200"/>
              <a:buFont typeface="Crimson Pro"/>
              <a:buChar char="●"/>
            </a:pPr>
            <a:r>
              <a:rPr lang="en-US" sz="1400" dirty="0">
                <a:solidFill>
                  <a:srgbClr val="090303"/>
                </a:solidFill>
              </a:rPr>
              <a:t>Many bookings come through agents. Hotels should build strong partnerships with them.</a:t>
            </a:r>
          </a:p>
          <a:p>
            <a:pPr lvl="0" indent="-304800">
              <a:buClr>
                <a:schemeClr val="dk1"/>
              </a:buClr>
              <a:buSzPts val="1200"/>
              <a:buFont typeface="Crimson Pro"/>
              <a:buChar char="●"/>
            </a:pPr>
            <a:r>
              <a:rPr lang="en-US" sz="1400" dirty="0">
                <a:solidFill>
                  <a:schemeClr val="hlink"/>
                </a:solidFill>
                <a:uFill>
                  <a:noFill/>
                </a:uFill>
              </a:rPr>
              <a:t>Overall, these insights will help hotels increase revenue, attract more customer and improve satisfaction.</a:t>
            </a:r>
          </a:p>
        </p:txBody>
      </p:sp>
      <p:sp>
        <p:nvSpPr>
          <p:cNvPr id="908" name="Google Shape;908;p66"/>
          <p:cNvSpPr txBox="1">
            <a:spLocks noGrp="1"/>
          </p:cNvSpPr>
          <p:nvPr>
            <p:ph type="ctrTitle"/>
          </p:nvPr>
        </p:nvSpPr>
        <p:spPr>
          <a:xfrm>
            <a:off x="2580300" y="649974"/>
            <a:ext cx="3983400" cy="122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Cooper Black" panose="0208090404030B020404" pitchFamily="18" charset="0"/>
              </a:rPr>
              <a:t>CONC</a:t>
            </a:r>
            <a:r>
              <a:rPr lang="en" sz="3200" dirty="0">
                <a:solidFill>
                  <a:srgbClr val="FFC000"/>
                </a:solidFill>
                <a:latin typeface="Cooper Black" panose="0208090404030B020404" pitchFamily="18" charset="0"/>
              </a:rPr>
              <a:t>LUSION</a:t>
            </a:r>
            <a:endParaRPr sz="3200" dirty="0">
              <a:solidFill>
                <a:srgbClr val="FFC000"/>
              </a:solidFill>
              <a:latin typeface="Cooper Black" panose="0208090404030B020404" pitchFamily="18" charset="0"/>
            </a:endParaRPr>
          </a:p>
        </p:txBody>
      </p:sp>
    </p:spTree>
    <p:extLst>
      <p:ext uri="{BB962C8B-B14F-4D97-AF65-F5344CB8AC3E}">
        <p14:creationId xmlns:p14="http://schemas.microsoft.com/office/powerpoint/2010/main" val="83191153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6" name="Google Shape;886;p65">
            <a:extLst>
              <a:ext uri="{FF2B5EF4-FFF2-40B4-BE49-F238E27FC236}">
                <a16:creationId xmlns:a16="http://schemas.microsoft.com/office/drawing/2014/main" id="{FF790F21-28E8-DCA3-8272-CAE75D1EA38C}"/>
              </a:ext>
            </a:extLst>
          </p:cNvPr>
          <p:cNvSpPr txBox="1">
            <a:spLocks noGrp="1"/>
          </p:cNvSpPr>
          <p:nvPr>
            <p:ph type="ctrTitle"/>
          </p:nvPr>
        </p:nvSpPr>
        <p:spPr>
          <a:xfrm>
            <a:off x="2595899" y="2178000"/>
            <a:ext cx="4354969" cy="78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FFC000"/>
                </a:solidFill>
                <a:latin typeface="Cooper Black" panose="0208090404030B020404" pitchFamily="18" charset="0"/>
              </a:rPr>
              <a:t>THANKS!</a:t>
            </a:r>
            <a:endParaRPr dirty="0">
              <a:solidFill>
                <a:srgbClr val="FFC000"/>
              </a:solidFill>
              <a:latin typeface="Cooper Black" panose="0208090404030B020404" pitchFamily="18" charset="0"/>
            </a:endParaRPr>
          </a:p>
        </p:txBody>
      </p:sp>
      <p:sp>
        <p:nvSpPr>
          <p:cNvPr id="7" name="Google Shape;888;p65">
            <a:extLst>
              <a:ext uri="{FF2B5EF4-FFF2-40B4-BE49-F238E27FC236}">
                <a16:creationId xmlns:a16="http://schemas.microsoft.com/office/drawing/2014/main" id="{12E34BEC-C730-AEF4-4B2D-D3D531B62248}"/>
              </a:ext>
            </a:extLst>
          </p:cNvPr>
          <p:cNvSpPr/>
          <p:nvPr/>
        </p:nvSpPr>
        <p:spPr>
          <a:xfrm>
            <a:off x="4461409" y="1065546"/>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88;p65">
            <a:extLst>
              <a:ext uri="{FF2B5EF4-FFF2-40B4-BE49-F238E27FC236}">
                <a16:creationId xmlns:a16="http://schemas.microsoft.com/office/drawing/2014/main" id="{8A77359C-050B-D5EC-F00F-92DD837CF77E}"/>
              </a:ext>
            </a:extLst>
          </p:cNvPr>
          <p:cNvSpPr/>
          <p:nvPr/>
        </p:nvSpPr>
        <p:spPr>
          <a:xfrm>
            <a:off x="4344600" y="3850254"/>
            <a:ext cx="227400" cy="227700"/>
          </a:xfrm>
          <a:prstGeom prst="star4">
            <a:avLst>
              <a:gd name="adj" fmla="val 727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058240"/>
      </p:ext>
    </p:extLst>
  </p:cSld>
  <p:clrMapOvr>
    <a:masterClrMapping/>
  </p:clrMapOvr>
  <p:transition spd="slow">
    <p:push dir="u"/>
  </p:transition>
</p:sld>
</file>

<file path=ppt/theme/theme1.xml><?xml version="1.0" encoding="utf-8"?>
<a:theme xmlns:a="http://schemas.openxmlformats.org/drawingml/2006/main" name="Luxury Hotel Chain Pitch Deck by Slidesgo">
  <a:themeElements>
    <a:clrScheme name="Simple Light">
      <a:dk1>
        <a:srgbClr val="311011"/>
      </a:dk1>
      <a:lt1>
        <a:srgbClr val="FAF8F5"/>
      </a:lt1>
      <a:dk2>
        <a:srgbClr val="D8BB63"/>
      </a:dk2>
      <a:lt2>
        <a:srgbClr val="FFFFFF"/>
      </a:lt2>
      <a:accent1>
        <a:srgbClr val="FFFFFF"/>
      </a:accent1>
      <a:accent2>
        <a:srgbClr val="FFFFFF"/>
      </a:accent2>
      <a:accent3>
        <a:srgbClr val="FFFFFF"/>
      </a:accent3>
      <a:accent4>
        <a:srgbClr val="FFFFFF"/>
      </a:accent4>
      <a:accent5>
        <a:srgbClr val="FFFFFF"/>
      </a:accent5>
      <a:accent6>
        <a:srgbClr val="FFFFFF"/>
      </a:accent6>
      <a:hlink>
        <a:srgbClr val="130D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311011"/>
    </a:dk1>
    <a:lt1>
      <a:srgbClr val="FAF8F5"/>
    </a:lt1>
    <a:dk2>
      <a:srgbClr val="D8BB63"/>
    </a:dk2>
    <a:lt2>
      <a:srgbClr val="FFFFFF"/>
    </a:lt2>
    <a:accent1>
      <a:srgbClr val="FFFFFF"/>
    </a:accent1>
    <a:accent2>
      <a:srgbClr val="FFFFFF"/>
    </a:accent2>
    <a:accent3>
      <a:srgbClr val="FFFFFF"/>
    </a:accent3>
    <a:accent4>
      <a:srgbClr val="FFFFFF"/>
    </a:accent4>
    <a:accent5>
      <a:srgbClr val="FFFFFF"/>
    </a:accent5>
    <a:accent6>
      <a:srgbClr val="FFFFFF"/>
    </a:accent6>
    <a:hlink>
      <a:srgbClr val="130D2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1324</TotalTime>
  <Words>1149</Words>
  <Application>Microsoft Office PowerPoint</Application>
  <PresentationFormat>On-screen Show (16:9)</PresentationFormat>
  <Paragraphs>120</Paragraphs>
  <Slides>23</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Anaheim</vt:lpstr>
      <vt:lpstr>Patrick Hand</vt:lpstr>
      <vt:lpstr>Times New Roman</vt:lpstr>
      <vt:lpstr>Federo</vt:lpstr>
      <vt:lpstr>Crimson Pro</vt:lpstr>
      <vt:lpstr>Cooper Black</vt:lpstr>
      <vt:lpstr>Luxury Hotel Chain Pitch Deck by Slidesgo</vt:lpstr>
      <vt:lpstr>HOTEL BOOKING ANALYSIS</vt:lpstr>
      <vt:lpstr>Project Summary</vt:lpstr>
      <vt:lpstr>PROJECT SUMMARY</vt:lpstr>
      <vt:lpstr>PROBLEM  STATEMENT</vt:lpstr>
      <vt:lpstr>EXPECTED  OUTCOMES</vt:lpstr>
      <vt:lpstr>ABOUT DATA</vt:lpstr>
      <vt:lpstr>ABOUT DATA</vt:lpstr>
      <vt:lpstr>ABOUT DATA</vt:lpstr>
      <vt:lpstr>DATA CLEANING</vt:lpstr>
      <vt:lpstr>Data Visualization and Analysis </vt:lpstr>
      <vt:lpstr>MOST PREFERRED HOTEL TO STAY </vt:lpstr>
      <vt:lpstr>MOST CANCELATIONS BY HOTEL </vt:lpstr>
      <vt:lpstr>AVERAGE ADVANCED BOOKING BY HOTEL </vt:lpstr>
      <vt:lpstr>WEEKLY NUMBER OF GUESTS BY HOTELS</vt:lpstr>
      <vt:lpstr>GUESTS FROM MOST VISITED COUNTRIES</vt:lpstr>
      <vt:lpstr>BOOKING STATUS OF GUESTS </vt:lpstr>
      <vt:lpstr>MEAL TYPES OF HOTELS  GUESTS</vt:lpstr>
      <vt:lpstr>PROPORTION OF REPEATED GUESTS </vt:lpstr>
      <vt:lpstr>MOST PREFERRED  MARKET SEGMENT</vt:lpstr>
      <vt:lpstr>PowerPoint Presentation</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LUXURY HOTEL CHAIN</dc:title>
  <dc:creator>Rupali Gaje</dc:creator>
  <cp:lastModifiedBy>Rupali Gaje</cp:lastModifiedBy>
  <cp:revision>18</cp:revision>
  <dcterms:modified xsi:type="dcterms:W3CDTF">2025-11-05T04:43:45Z</dcterms:modified>
</cp:coreProperties>
</file>